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Bitter" pitchFamily="2" charset="77"/>
      <p:regular r:id="rId33"/>
      <p:bold r:id="rId34"/>
      <p:italic r:id="rId35"/>
      <p:boldItalic r:id="rId36"/>
    </p:embeddedFont>
    <p:embeddedFont>
      <p:font typeface="Economica" panose="02000506040000020004" pitchFamily="2" charset="77"/>
      <p:regular r:id="rId37"/>
      <p:bold r:id="rId38"/>
      <p:italic r:id="rId39"/>
      <p:boldItalic r:id="rId40"/>
    </p:embeddedFont>
    <p:embeddedFont>
      <p:font typeface="Open Sans" panose="020B060603050402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C5F4CB-E676-488F-BFCB-5E0939934A82}">
  <a:tblStyle styleId="{ADC5F4CB-E676-488F-BFCB-5E0939934A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16"/>
    <p:restoredTop sz="94704"/>
  </p:normalViewPr>
  <p:slideViewPr>
    <p:cSldViewPr snapToGrid="0">
      <p:cViewPr varScale="1">
        <p:scale>
          <a:sx n="180" d="100"/>
          <a:sy n="180" d="100"/>
        </p:scale>
        <p:origin x="1504"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Hello, my name is Alison Stephens. (Everyone introduce themselves).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50739d9d4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50739d9d4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50739d9d46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50739d9d46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scientific question was “1st question”. We are also interested in “second question”</a:t>
            </a:r>
            <a:endParaRPr/>
          </a:p>
          <a:p>
            <a:pPr marL="0" lvl="0" indent="0" algn="l" rtl="0">
              <a:spcBef>
                <a:spcPts val="0"/>
              </a:spcBef>
              <a:spcAft>
                <a:spcPts val="0"/>
              </a:spcAft>
              <a:buNone/>
            </a:pPr>
            <a:endParaRPr/>
          </a:p>
          <a:p>
            <a:pPr marL="0" lvl="0" indent="0" algn="l" rtl="0">
              <a:spcBef>
                <a:spcPts val="0"/>
              </a:spcBef>
              <a:spcAft>
                <a:spcPts val="0"/>
              </a:spcAft>
              <a:buNone/>
            </a:pPr>
            <a:r>
              <a:rPr lang="en"/>
              <a:t>First question answers the main predictors </a:t>
            </a:r>
            <a:endParaRPr/>
          </a:p>
          <a:p>
            <a:pPr marL="0" lvl="0" indent="0" algn="l" rtl="0">
              <a:spcBef>
                <a:spcPts val="0"/>
              </a:spcBef>
              <a:spcAft>
                <a:spcPts val="0"/>
              </a:spcAft>
              <a:buNone/>
            </a:pPr>
            <a:r>
              <a:rPr lang="en"/>
              <a:t>Second question answer the main + potential predictors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50739d9d46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0739d9d4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rgbClr val="595959"/>
              </a:buClr>
              <a:buSzPts val="1200"/>
              <a:buChar char="●"/>
            </a:pPr>
            <a:r>
              <a:rPr lang="en" sz="1800">
                <a:solidFill>
                  <a:srgbClr val="595959"/>
                </a:solidFill>
              </a:rPr>
              <a:t>The features include age, gender, pulse rate, blood pressure (systolic and diastolic), glucose level, BMI, and family history of diabetes and related conditions like hypertension and cardiovascular disease</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en" sz="1800">
                <a:solidFill>
                  <a:srgbClr val="595959"/>
                </a:solidFill>
              </a:rPr>
              <a:t>However, the specific methods employed for data collection—such as whether it was gathered through surveys, medical records, or other means—are not detailed in the dataset description.</a:t>
            </a:r>
            <a:endParaRPr sz="1800">
              <a:solidFill>
                <a:srgbClr val="595959"/>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50739d9d46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50739d9d46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Most of the means are approximately normal but with high standard deviations.</a:t>
            </a:r>
            <a:endParaRPr/>
          </a:p>
          <a:p>
            <a:pPr marL="0" lvl="0" indent="0" algn="l" rtl="0">
              <a:spcBef>
                <a:spcPts val="0"/>
              </a:spcBef>
              <a:spcAft>
                <a:spcPts val="0"/>
              </a:spcAft>
              <a:buNone/>
            </a:pPr>
            <a:endParaRPr/>
          </a:p>
          <a:p>
            <a:pPr marL="0" lvl="0" indent="0" algn="l" rtl="0">
              <a:spcBef>
                <a:spcPts val="0"/>
              </a:spcBef>
              <a:spcAft>
                <a:spcPts val="0"/>
              </a:spcAft>
              <a:buNone/>
            </a:pPr>
            <a:r>
              <a:rPr lang="en"/>
              <a:t>For our sample counts, male was slightly smaller than female. No hypertension was significantly larger. Healthy was significantly larger than the other BMI.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50e69a4d1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50e69a4d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2991e2d8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2991e2d8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did not transform age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50739d9d4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50739d9d4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Alison gets first 7 slides, stops here, Aaron starts here</a:t>
            </a:r>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2a00023c8_3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2a00023c8_3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Aaron starts here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50739d9d46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50739d9d46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50739d9d46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50739d9d4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52a00023c8_3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52a00023c8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predictors are the predictors we would keep in the model regardless whether they were significant</a:t>
            </a:r>
            <a:endParaRPr/>
          </a:p>
          <a:p>
            <a:pPr marL="0" lvl="0" indent="0" algn="l" rtl="0">
              <a:spcBef>
                <a:spcPts val="0"/>
              </a:spcBef>
              <a:spcAft>
                <a:spcPts val="0"/>
              </a:spcAft>
              <a:buNone/>
            </a:pPr>
            <a:r>
              <a:rPr lang="en"/>
              <a:t>Predictors references: </a:t>
            </a:r>
            <a:br>
              <a:rPr lang="en"/>
            </a:br>
            <a:r>
              <a:rPr lang="en"/>
              <a:t>females was reference group for gender</a:t>
            </a:r>
            <a:endParaRPr/>
          </a:p>
          <a:p>
            <a:pPr marL="0" lvl="0" indent="0" algn="l" rtl="0">
              <a:spcBef>
                <a:spcPts val="0"/>
              </a:spcBef>
              <a:spcAft>
                <a:spcPts val="0"/>
              </a:spcAft>
              <a:buNone/>
            </a:pPr>
            <a:r>
              <a:rPr lang="en"/>
              <a:t>Healthy was the reference group for BMI categories</a:t>
            </a:r>
            <a:endParaRPr/>
          </a:p>
          <a:p>
            <a:pPr marL="0" lvl="0" indent="0" algn="l" rtl="0">
              <a:spcBef>
                <a:spcPts val="0"/>
              </a:spcBef>
              <a:spcAft>
                <a:spcPts val="0"/>
              </a:spcAft>
              <a:buNone/>
            </a:pPr>
            <a:r>
              <a:rPr lang="en"/>
              <a:t>No hypertension was the reference group for hypertensive</a:t>
            </a:r>
            <a:endParaRPr/>
          </a:p>
          <a:p>
            <a:pPr marL="0" lvl="0" indent="0" algn="l" rtl="0">
              <a:spcBef>
                <a:spcPts val="0"/>
              </a:spcBef>
              <a:spcAft>
                <a:spcPts val="0"/>
              </a:spcAft>
              <a:buNone/>
            </a:pPr>
            <a:r>
              <a:rPr lang="en"/>
              <a:t>Potential Predictor is the one that could be removed if not significant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0739d9d46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0739d9d46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50e69a4d1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50e69a4d1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50739d9d46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50739d9d46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2a00023c8_3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2a00023c8_3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Aaron stops here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0739d9d46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0739d9d4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Yuzhou starts here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52a00023c8_3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52a00023c8_3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0739d9d46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50739d9d46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52a00023c8_3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52a00023c8_3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 change direction of effect: used to contain 0 (not significant), now not containing 0 (signif.), after controlling for age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50739d9d46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50739d9d46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0e69a4d16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50e69a4d16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State results from SAS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50e69a4d16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50e69a4d16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50e69a4d16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50e69a4d16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Yuzhou stops here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50739d9d46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50739d9d4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50739d9d46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50739d9d46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0739d9d46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0739d9d46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50739d9d46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50739d9d46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50739d9d46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50739d9d46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50739d9d46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50739d9d46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3044700" y="1672525"/>
            <a:ext cx="3054600" cy="15435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sz="3200"/>
              <a:t>Investigating the Association Between Cardiovascular Health Indicators and Individual Characteristics</a:t>
            </a:r>
            <a:endParaRPr sz="3200"/>
          </a:p>
        </p:txBody>
      </p:sp>
      <p:sp>
        <p:nvSpPr>
          <p:cNvPr id="63" name="Google Shape;63;p13"/>
          <p:cNvSpPr txBox="1">
            <a:spLocks noGrp="1"/>
          </p:cNvSpPr>
          <p:nvPr>
            <p:ph type="subTitle" idx="1"/>
          </p:nvPr>
        </p:nvSpPr>
        <p:spPr>
          <a:xfrm>
            <a:off x="3044700" y="3542830"/>
            <a:ext cx="3054600" cy="701400"/>
          </a:xfrm>
          <a:prstGeom prst="rect">
            <a:avLst/>
          </a:prstGeom>
        </p:spPr>
        <p:txBody>
          <a:bodyPr spcFirstLastPara="1" wrap="square" lIns="91425" tIns="91425" rIns="91425" bIns="91425" anchor="t" anchorCtr="0">
            <a:normAutofit lnSpcReduction="20000"/>
          </a:bodyPr>
          <a:lstStyle/>
          <a:p>
            <a:pPr marL="0" lvl="0" indent="0" algn="ctr" rtl="0">
              <a:spcBef>
                <a:spcPts val="0"/>
              </a:spcBef>
              <a:spcAft>
                <a:spcPts val="0"/>
              </a:spcAft>
              <a:buNone/>
            </a:pPr>
            <a:r>
              <a:rPr lang="en"/>
              <a:t>By Weiyi Huang, Aaron Niecestro, Yuzhou Pan, Alison Stephens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Scientific Questions and Motivation</a:t>
            </a:r>
            <a:endParaRPr/>
          </a:p>
        </p:txBody>
      </p:sp>
      <p:sp>
        <p:nvSpPr>
          <p:cNvPr id="74" name="Google Shape;74;p1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sz="1600">
                <a:solidFill>
                  <a:schemeClr val="dk1"/>
                </a:solidFill>
              </a:rPr>
              <a:t>Scientific Questions:</a:t>
            </a:r>
            <a:endParaRPr sz="1600">
              <a:solidFill>
                <a:schemeClr val="dk1"/>
              </a:solidFill>
            </a:endParaRPr>
          </a:p>
          <a:p>
            <a:pPr marL="914400" lvl="1" indent="-330200" algn="l" rtl="0">
              <a:spcBef>
                <a:spcPts val="0"/>
              </a:spcBef>
              <a:spcAft>
                <a:spcPts val="0"/>
              </a:spcAft>
              <a:buSzPts val="1600"/>
              <a:buChar char="○"/>
            </a:pPr>
            <a:r>
              <a:rPr lang="en" sz="1600">
                <a:solidFill>
                  <a:schemeClr val="dk1"/>
                </a:solidFill>
              </a:rPr>
              <a:t>How do age, gender, and BMI categories jointly predict cardiovascular and metabolic health indicators (pulse rate, blood pressure, and glucose levels)? </a:t>
            </a:r>
            <a:endParaRPr sz="1600">
              <a:solidFill>
                <a:schemeClr val="dk1"/>
              </a:solidFill>
            </a:endParaRPr>
          </a:p>
          <a:p>
            <a:pPr marL="914400" lvl="1" indent="-330200" algn="l" rtl="0">
              <a:spcBef>
                <a:spcPts val="0"/>
              </a:spcBef>
              <a:spcAft>
                <a:spcPts val="0"/>
              </a:spcAft>
              <a:buSzPts val="1600"/>
              <a:buChar char="○"/>
            </a:pPr>
            <a:r>
              <a:rPr lang="en" sz="1600">
                <a:solidFill>
                  <a:schemeClr val="dk1"/>
                </a:solidFill>
              </a:rPr>
              <a:t>How do certain health factors (age, gender, hypertension status, BMI categories) respectively and simultaneously influence vital signs and glucose regulation? </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By identifying key factors that contribute to health risk(s) at an individual level, healthcare providers can tailor prevention and treatment plans more accurately.</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When multiple factors are studied together, researchers can control for confounding variables and obtain more precise conclusions about what truly influences cardiovascular health and glucose regulation.</a:t>
            </a:r>
            <a:endParaRPr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Description of the Data</a:t>
            </a:r>
            <a:endParaRPr sz="1250">
              <a:latin typeface="Bitter"/>
              <a:ea typeface="Bitter"/>
              <a:cs typeface="Bitter"/>
              <a:sym typeface="Bitter"/>
            </a:endParaRPr>
          </a:p>
        </p:txBody>
      </p:sp>
      <p:sp>
        <p:nvSpPr>
          <p:cNvPr id="80" name="Google Shape;80;p1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sz="1800"/>
              <a:t>This dataset provides comprehensive information on 5,437 patients, including 14 independent attributes such as demographics, clinical parameters, and medical history. </a:t>
            </a:r>
            <a:endParaRPr sz="1800"/>
          </a:p>
          <a:p>
            <a:pPr marL="457200" lvl="0" indent="-342900" algn="l" rtl="0">
              <a:spcBef>
                <a:spcPts val="0"/>
              </a:spcBef>
              <a:spcAft>
                <a:spcPts val="0"/>
              </a:spcAft>
              <a:buSzPts val="1800"/>
              <a:buChar char="●"/>
            </a:pPr>
            <a:r>
              <a:rPr lang="en"/>
              <a:t>The data was collected by researchers from United International University and Southeast University in Bangladesh.</a:t>
            </a:r>
            <a:endParaRPr/>
          </a:p>
          <a:p>
            <a:pPr marL="457200" lvl="0" indent="-342900" algn="l" rtl="0">
              <a:spcBef>
                <a:spcPts val="0"/>
              </a:spcBef>
              <a:spcAft>
                <a:spcPts val="0"/>
              </a:spcAft>
              <a:buSzPts val="1800"/>
              <a:buChar char="●"/>
            </a:pPr>
            <a:r>
              <a:rPr lang="en"/>
              <a:t>The data was cleaned so only adult participants were analyzed with the following rules:</a:t>
            </a:r>
            <a:endParaRPr/>
          </a:p>
          <a:p>
            <a:pPr marL="914400" lvl="1" indent="-317500" algn="l" rtl="0">
              <a:spcBef>
                <a:spcPts val="0"/>
              </a:spcBef>
              <a:spcAft>
                <a:spcPts val="0"/>
              </a:spcAft>
              <a:buSzPts val="1400"/>
              <a:buChar char="○"/>
            </a:pPr>
            <a:r>
              <a:rPr lang="en"/>
              <a:t>15 ≤ BMI ≤ 55 (Normal BMI numbers for adults, especially considering individual height and weight)</a:t>
            </a:r>
            <a:endParaRPr/>
          </a:p>
          <a:p>
            <a:pPr marL="914400" lvl="1" indent="-317500" algn="l" rtl="0">
              <a:spcBef>
                <a:spcPts val="0"/>
              </a:spcBef>
              <a:spcAft>
                <a:spcPts val="0"/>
              </a:spcAft>
              <a:buSzPts val="1400"/>
              <a:buChar char="○"/>
            </a:pPr>
            <a:r>
              <a:rPr lang="en"/>
              <a:t>Pulse Rate ≥ 40 (Minimum was a normal pulse rate for an Athlete)</a:t>
            </a:r>
            <a:endParaRPr/>
          </a:p>
          <a:p>
            <a:pPr marL="914400" lvl="1" indent="-317500" algn="l" rtl="0">
              <a:spcBef>
                <a:spcPts val="0"/>
              </a:spcBef>
              <a:spcAft>
                <a:spcPts val="0"/>
              </a:spcAft>
              <a:buSzPts val="1400"/>
              <a:buChar char="○"/>
            </a:pPr>
            <a:r>
              <a:rPr lang="en"/>
              <a:t>Systolic BP ≤ 210 (Non-medical emergency, anything above counts as medical emergency)</a:t>
            </a:r>
            <a:endParaRPr/>
          </a:p>
          <a:p>
            <a:pPr marL="914400" lvl="1" indent="-317500" algn="l" rtl="0">
              <a:spcBef>
                <a:spcPts val="0"/>
              </a:spcBef>
              <a:spcAft>
                <a:spcPts val="0"/>
              </a:spcAft>
              <a:buSzPts val="1400"/>
              <a:buChar char="○"/>
            </a:pPr>
            <a:r>
              <a:rPr lang="en"/>
              <a:t>Glucose ≥ 4.0 &amp; glucose ≤ 13.3 (Non-medical emergency)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Baseline Characteristics </a:t>
            </a:r>
            <a:endParaRPr/>
          </a:p>
        </p:txBody>
      </p:sp>
      <p:graphicFrame>
        <p:nvGraphicFramePr>
          <p:cNvPr id="86" name="Google Shape;86;p17"/>
          <p:cNvGraphicFramePr/>
          <p:nvPr/>
        </p:nvGraphicFramePr>
        <p:xfrm>
          <a:off x="446713" y="1024375"/>
          <a:ext cx="3753000" cy="3665138"/>
        </p:xfrm>
        <a:graphic>
          <a:graphicData uri="http://schemas.openxmlformats.org/drawingml/2006/table">
            <a:tbl>
              <a:tblPr>
                <a:noFill/>
                <a:tableStyleId>{ADC5F4CB-E676-488F-BFCB-5E0939934A82}</a:tableStyleId>
              </a:tblPr>
              <a:tblGrid>
                <a:gridCol w="1919075">
                  <a:extLst>
                    <a:ext uri="{9D8B030D-6E8A-4147-A177-3AD203B41FA5}">
                      <a16:colId xmlns:a16="http://schemas.microsoft.com/office/drawing/2014/main" val="20000"/>
                    </a:ext>
                  </a:extLst>
                </a:gridCol>
                <a:gridCol w="679250">
                  <a:extLst>
                    <a:ext uri="{9D8B030D-6E8A-4147-A177-3AD203B41FA5}">
                      <a16:colId xmlns:a16="http://schemas.microsoft.com/office/drawing/2014/main" val="20001"/>
                    </a:ext>
                  </a:extLst>
                </a:gridCol>
                <a:gridCol w="1154675">
                  <a:extLst>
                    <a:ext uri="{9D8B030D-6E8A-4147-A177-3AD203B41FA5}">
                      <a16:colId xmlns:a16="http://schemas.microsoft.com/office/drawing/2014/main" val="20002"/>
                    </a:ext>
                  </a:extLst>
                </a:gridCol>
              </a:tblGrid>
              <a:tr h="394625">
                <a:tc>
                  <a:txBody>
                    <a:bodyPr/>
                    <a:lstStyle/>
                    <a:p>
                      <a:pPr marL="0" lvl="0" indent="0" algn="l" rtl="0">
                        <a:spcBef>
                          <a:spcPts val="0"/>
                        </a:spcBef>
                        <a:spcAft>
                          <a:spcPts val="0"/>
                        </a:spcAft>
                        <a:buNone/>
                      </a:pPr>
                      <a:endParaRPr b="1"/>
                    </a:p>
                  </a:txBody>
                  <a:tcPr marL="91425" marR="91425" marT="91425" marB="91425"/>
                </a:tc>
                <a:tc gridSpan="2">
                  <a:txBody>
                    <a:bodyPr/>
                    <a:lstStyle/>
                    <a:p>
                      <a:pPr marL="0" lvl="0" indent="0" algn="ctr" rtl="0">
                        <a:spcBef>
                          <a:spcPts val="0"/>
                        </a:spcBef>
                        <a:spcAft>
                          <a:spcPts val="0"/>
                        </a:spcAft>
                        <a:buNone/>
                      </a:pPr>
                      <a:r>
                        <a:rPr lang="en" b="1"/>
                        <a:t>Original Data</a:t>
                      </a:r>
                      <a:endParaRPr b="1"/>
                    </a:p>
                  </a:txBody>
                  <a:tcPr marL="91425" marR="91425" marT="91425" marB="91425">
                    <a:lnR w="9525" cap="flat" cmpd="sng">
                      <a:solidFill>
                        <a:srgbClr val="9E9E9E"/>
                      </a:solidFill>
                      <a:prstDash val="solid"/>
                      <a:round/>
                      <a:headEnd type="none" w="sm" len="sm"/>
                      <a:tailEnd type="none" w="sm" len="sm"/>
                    </a:lnR>
                  </a:tcPr>
                </a:tc>
                <a:tc hMerge="1">
                  <a:txBody>
                    <a:bodyPr/>
                    <a:lstStyle/>
                    <a:p>
                      <a:endParaRPr lang="en-US"/>
                    </a:p>
                  </a:txBody>
                  <a:tcPr/>
                </a:tc>
                <a:extLst>
                  <a:ext uri="{0D108BD9-81ED-4DB2-BD59-A6C34878D82A}">
                    <a16:rowId xmlns:a16="http://schemas.microsoft.com/office/drawing/2014/main" val="10000"/>
                  </a:ext>
                </a:extLst>
              </a:tr>
              <a:tr h="607150">
                <a:tc>
                  <a:txBody>
                    <a:bodyPr/>
                    <a:lstStyle/>
                    <a:p>
                      <a:pPr marL="0" lvl="0" indent="0" algn="l" rtl="0">
                        <a:spcBef>
                          <a:spcPts val="0"/>
                        </a:spcBef>
                        <a:spcAft>
                          <a:spcPts val="0"/>
                        </a:spcAft>
                        <a:buNone/>
                      </a:pPr>
                      <a:r>
                        <a:rPr lang="en" b="1"/>
                        <a:t>Variable </a:t>
                      </a:r>
                      <a:endParaRPr b="1"/>
                    </a:p>
                  </a:txBody>
                  <a:tcPr marL="91425" marR="91425" marT="91425" marB="91425"/>
                </a:tc>
                <a:tc>
                  <a:txBody>
                    <a:bodyPr/>
                    <a:lstStyle/>
                    <a:p>
                      <a:pPr marL="0" lvl="0" indent="0" algn="l" rtl="0">
                        <a:spcBef>
                          <a:spcPts val="0"/>
                        </a:spcBef>
                        <a:spcAft>
                          <a:spcPts val="0"/>
                        </a:spcAft>
                        <a:buNone/>
                      </a:pPr>
                      <a:r>
                        <a:rPr lang="en" b="1"/>
                        <a:t>Mean</a:t>
                      </a:r>
                      <a:endParaRPr b="1"/>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Standard Deviation</a:t>
                      </a:r>
                      <a:endParaRPr b="1"/>
                    </a:p>
                  </a:txBody>
                  <a:tcPr marL="91425" marR="91425" marT="91425" marB="91425">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1"/>
                  </a:ext>
                </a:extLst>
              </a:tr>
              <a:tr h="394625">
                <a:tc>
                  <a:txBody>
                    <a:bodyPr/>
                    <a:lstStyle/>
                    <a:p>
                      <a:pPr marL="0" lvl="0" indent="0" algn="l" rtl="0">
                        <a:spcBef>
                          <a:spcPts val="0"/>
                        </a:spcBef>
                        <a:spcAft>
                          <a:spcPts val="0"/>
                        </a:spcAft>
                        <a:buNone/>
                      </a:pPr>
                      <a:r>
                        <a:rPr lang="en" b="1"/>
                        <a:t>Pulse Rate (bpm)</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76.49</a:t>
                      </a:r>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12.02</a:t>
                      </a:r>
                      <a:endParaRPr/>
                    </a:p>
                  </a:txBody>
                  <a:tcPr marL="91425" marR="91425" marT="91425" marB="91425"/>
                </a:tc>
                <a:extLst>
                  <a:ext uri="{0D108BD9-81ED-4DB2-BD59-A6C34878D82A}">
                    <a16:rowId xmlns:a16="http://schemas.microsoft.com/office/drawing/2014/main" val="10002"/>
                  </a:ext>
                </a:extLst>
              </a:tr>
              <a:tr h="394625">
                <a:tc>
                  <a:txBody>
                    <a:bodyPr/>
                    <a:lstStyle/>
                    <a:p>
                      <a:pPr marL="0" lvl="0" indent="0" algn="l" rtl="0">
                        <a:spcBef>
                          <a:spcPts val="0"/>
                        </a:spcBef>
                        <a:spcAft>
                          <a:spcPts val="0"/>
                        </a:spcAft>
                        <a:buNone/>
                      </a:pPr>
                      <a:r>
                        <a:rPr lang="en" b="1"/>
                        <a:t>Glucose (</a:t>
                      </a:r>
                      <a:r>
                        <a:rPr lang="en" b="1">
                          <a:solidFill>
                            <a:schemeClr val="dk1"/>
                          </a:solidFill>
                        </a:rPr>
                        <a:t>mg/dL or mmol/L)</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7.123</a:t>
                      </a:r>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1.64</a:t>
                      </a:r>
                      <a:endParaRPr/>
                    </a:p>
                  </a:txBody>
                  <a:tcPr marL="91425" marR="91425" marT="91425" marB="91425"/>
                </a:tc>
                <a:extLst>
                  <a:ext uri="{0D108BD9-81ED-4DB2-BD59-A6C34878D82A}">
                    <a16:rowId xmlns:a16="http://schemas.microsoft.com/office/drawing/2014/main" val="10003"/>
                  </a:ext>
                </a:extLst>
              </a:tr>
              <a:tr h="607150">
                <a:tc>
                  <a:txBody>
                    <a:bodyPr/>
                    <a:lstStyle/>
                    <a:p>
                      <a:pPr marL="0" lvl="0" indent="0" algn="l" rtl="0">
                        <a:spcBef>
                          <a:spcPts val="0"/>
                        </a:spcBef>
                        <a:spcAft>
                          <a:spcPts val="0"/>
                        </a:spcAft>
                        <a:buNone/>
                      </a:pPr>
                      <a:r>
                        <a:rPr lang="en" b="1"/>
                        <a:t>Systolic Blood Pressure (mmHg)</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133.4</a:t>
                      </a:r>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21.92</a:t>
                      </a:r>
                      <a:endParaRPr>
                        <a:solidFill>
                          <a:schemeClr val="dk1"/>
                        </a:solidFill>
                        <a:highlight>
                          <a:srgbClr val="FFFFFF"/>
                        </a:highlight>
                      </a:endParaRPr>
                    </a:p>
                  </a:txBody>
                  <a:tcPr marL="91425" marR="91425" marT="91425" marB="91425"/>
                </a:tc>
                <a:extLst>
                  <a:ext uri="{0D108BD9-81ED-4DB2-BD59-A6C34878D82A}">
                    <a16:rowId xmlns:a16="http://schemas.microsoft.com/office/drawing/2014/main" val="10004"/>
                  </a:ext>
                </a:extLst>
              </a:tr>
              <a:tr h="607150">
                <a:tc>
                  <a:txBody>
                    <a:bodyPr/>
                    <a:lstStyle/>
                    <a:p>
                      <a:pPr marL="0" lvl="0" indent="0" algn="l" rtl="0">
                        <a:spcBef>
                          <a:spcPts val="0"/>
                        </a:spcBef>
                        <a:spcAft>
                          <a:spcPts val="0"/>
                        </a:spcAft>
                        <a:buNone/>
                      </a:pPr>
                      <a:r>
                        <a:rPr lang="en" b="1"/>
                        <a:t>Diastolic Blood Pressure </a:t>
                      </a:r>
                      <a:r>
                        <a:rPr lang="en" b="1">
                          <a:solidFill>
                            <a:schemeClr val="dk1"/>
                          </a:solidFill>
                        </a:rPr>
                        <a:t>(mmHg)</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81.89</a:t>
                      </a:r>
                      <a:endParaRPr/>
                    </a:p>
                  </a:txBody>
                  <a:tcPr marL="91425" marR="91425" marT="91425" marB="91425"/>
                </a:tc>
                <a:tc>
                  <a:txBody>
                    <a:bodyPr/>
                    <a:lstStyle/>
                    <a:p>
                      <a:pPr marL="0" lvl="0" indent="0" algn="ctr" rtl="0">
                        <a:lnSpc>
                          <a:spcPct val="120000"/>
                        </a:lnSpc>
                        <a:spcBef>
                          <a:spcPts val="0"/>
                        </a:spcBef>
                        <a:spcAft>
                          <a:spcPts val="0"/>
                        </a:spcAft>
                        <a:buClr>
                          <a:schemeClr val="dk1"/>
                        </a:buClr>
                        <a:buSzPts val="1100"/>
                        <a:buFont typeface="Arial"/>
                        <a:buNone/>
                      </a:pPr>
                      <a:r>
                        <a:rPr lang="en">
                          <a:solidFill>
                            <a:schemeClr val="dk1"/>
                          </a:solidFill>
                          <a:highlight>
                            <a:srgbClr val="FFFFFF"/>
                          </a:highlight>
                        </a:rPr>
                        <a:t>12.44</a:t>
                      </a:r>
                      <a:endParaRPr/>
                    </a:p>
                  </a:txBody>
                  <a:tcPr marL="91425" marR="91425" marT="91425" marB="91425"/>
                </a:tc>
                <a:extLst>
                  <a:ext uri="{0D108BD9-81ED-4DB2-BD59-A6C34878D82A}">
                    <a16:rowId xmlns:a16="http://schemas.microsoft.com/office/drawing/2014/main" val="10005"/>
                  </a:ext>
                </a:extLst>
              </a:tr>
              <a:tr h="394625">
                <a:tc>
                  <a:txBody>
                    <a:bodyPr/>
                    <a:lstStyle/>
                    <a:p>
                      <a:pPr marL="0" lvl="0" indent="0" algn="l" rtl="0">
                        <a:spcBef>
                          <a:spcPts val="0"/>
                        </a:spcBef>
                        <a:spcAft>
                          <a:spcPts val="0"/>
                        </a:spcAft>
                        <a:buNone/>
                      </a:pPr>
                      <a:r>
                        <a:rPr lang="en" b="1"/>
                        <a:t>Age (Years)</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45.33</a:t>
                      </a:r>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14.13</a:t>
                      </a:r>
                      <a:endParaRPr/>
                    </a:p>
                  </a:txBody>
                  <a:tcPr marL="91425" marR="91425" marT="91425" marB="91425">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6"/>
                  </a:ext>
                </a:extLst>
              </a:tr>
            </a:tbl>
          </a:graphicData>
        </a:graphic>
      </p:graphicFrame>
      <p:graphicFrame>
        <p:nvGraphicFramePr>
          <p:cNvPr id="87" name="Google Shape;87;p17"/>
          <p:cNvGraphicFramePr/>
          <p:nvPr/>
        </p:nvGraphicFramePr>
        <p:xfrm>
          <a:off x="4436613" y="1054875"/>
          <a:ext cx="4510950" cy="3842367"/>
        </p:xfrm>
        <a:graphic>
          <a:graphicData uri="http://schemas.openxmlformats.org/drawingml/2006/table">
            <a:tbl>
              <a:tblPr>
                <a:noFill/>
                <a:tableStyleId>{ADC5F4CB-E676-488F-BFCB-5E0939934A82}</a:tableStyleId>
              </a:tblPr>
              <a:tblGrid>
                <a:gridCol w="2909275">
                  <a:extLst>
                    <a:ext uri="{9D8B030D-6E8A-4147-A177-3AD203B41FA5}">
                      <a16:colId xmlns:a16="http://schemas.microsoft.com/office/drawing/2014/main" val="20000"/>
                    </a:ext>
                  </a:extLst>
                </a:gridCol>
                <a:gridCol w="1601675">
                  <a:extLst>
                    <a:ext uri="{9D8B030D-6E8A-4147-A177-3AD203B41FA5}">
                      <a16:colId xmlns:a16="http://schemas.microsoft.com/office/drawing/2014/main" val="20001"/>
                    </a:ext>
                  </a:extLst>
                </a:gridCol>
              </a:tblGrid>
              <a:tr h="519775">
                <a:tc>
                  <a:txBody>
                    <a:bodyPr/>
                    <a:lstStyle/>
                    <a:p>
                      <a:pPr marL="0" lvl="0" indent="0" algn="l" rtl="0">
                        <a:spcBef>
                          <a:spcPts val="0"/>
                        </a:spcBef>
                        <a:spcAft>
                          <a:spcPts val="0"/>
                        </a:spcAft>
                        <a:buNone/>
                      </a:pPr>
                      <a:r>
                        <a:rPr lang="en" b="1">
                          <a:solidFill>
                            <a:schemeClr val="dk1"/>
                          </a:solidFill>
                        </a:rPr>
                        <a:t>Variable</a:t>
                      </a:r>
                      <a:endParaRPr b="1">
                        <a:solidFill>
                          <a:schemeClr val="dk1"/>
                        </a:solidFill>
                      </a:endParaRPr>
                    </a:p>
                  </a:txBody>
                  <a:tcPr marL="91425" marR="91425" marT="91425" marB="91425"/>
                </a:tc>
                <a:tc>
                  <a:txBody>
                    <a:bodyPr/>
                    <a:lstStyle/>
                    <a:p>
                      <a:pPr marL="0" lvl="0" indent="0" algn="l" rtl="0">
                        <a:spcBef>
                          <a:spcPts val="0"/>
                        </a:spcBef>
                        <a:spcAft>
                          <a:spcPts val="0"/>
                        </a:spcAft>
                        <a:buNone/>
                      </a:pPr>
                      <a:r>
                        <a:rPr lang="en" b="1">
                          <a:solidFill>
                            <a:schemeClr val="dk1"/>
                          </a:solidFill>
                        </a:rPr>
                        <a:t>Count (n = 5046)</a:t>
                      </a:r>
                      <a:endParaRPr b="1">
                        <a:solidFill>
                          <a:schemeClr val="dk1"/>
                        </a:solidFill>
                      </a:endParaRPr>
                    </a:p>
                  </a:txBody>
                  <a:tcPr marL="91425" marR="91425" marT="91425" marB="91425"/>
                </a:tc>
                <a:extLst>
                  <a:ext uri="{0D108BD9-81ED-4DB2-BD59-A6C34878D82A}">
                    <a16:rowId xmlns:a16="http://schemas.microsoft.com/office/drawing/2014/main" val="10000"/>
                  </a:ext>
                </a:extLst>
              </a:tr>
              <a:tr h="370500">
                <a:tc>
                  <a:txBody>
                    <a:bodyPr/>
                    <a:lstStyle/>
                    <a:p>
                      <a:pPr marL="0" lvl="0" indent="0" algn="l" rtl="0">
                        <a:spcBef>
                          <a:spcPts val="0"/>
                        </a:spcBef>
                        <a:spcAft>
                          <a:spcPts val="0"/>
                        </a:spcAft>
                        <a:buNone/>
                      </a:pPr>
                      <a:r>
                        <a:rPr lang="en" b="1">
                          <a:solidFill>
                            <a:schemeClr val="dk1"/>
                          </a:solidFill>
                        </a:rPr>
                        <a:t>Gender: Male</a:t>
                      </a:r>
                      <a:endParaRPr b="1">
                        <a:solidFill>
                          <a:schemeClr val="dk1"/>
                        </a:solidFill>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1486</a:t>
                      </a:r>
                      <a:endParaRPr>
                        <a:solidFill>
                          <a:schemeClr val="dk1"/>
                        </a:solidFill>
                      </a:endParaRPr>
                    </a:p>
                  </a:txBody>
                  <a:tcPr marL="91425" marR="91425" marT="91425" marB="91425"/>
                </a:tc>
                <a:extLst>
                  <a:ext uri="{0D108BD9-81ED-4DB2-BD59-A6C34878D82A}">
                    <a16:rowId xmlns:a16="http://schemas.microsoft.com/office/drawing/2014/main" val="10001"/>
                  </a:ext>
                </a:extLst>
              </a:tr>
              <a:tr h="370500">
                <a:tc>
                  <a:txBody>
                    <a:bodyPr/>
                    <a:lstStyle/>
                    <a:p>
                      <a:pPr marL="0" lvl="0" indent="0" algn="l" rtl="0">
                        <a:spcBef>
                          <a:spcPts val="0"/>
                        </a:spcBef>
                        <a:spcAft>
                          <a:spcPts val="0"/>
                        </a:spcAft>
                        <a:buNone/>
                      </a:pPr>
                      <a:r>
                        <a:rPr lang="en" b="1">
                          <a:solidFill>
                            <a:schemeClr val="dk1"/>
                          </a:solidFill>
                        </a:rPr>
                        <a:t>Gender: Female</a:t>
                      </a:r>
                      <a:endParaRPr b="1">
                        <a:solidFill>
                          <a:schemeClr val="dk1"/>
                        </a:solidFill>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3560</a:t>
                      </a:r>
                      <a:endParaRPr>
                        <a:solidFill>
                          <a:schemeClr val="dk1"/>
                        </a:solidFill>
                      </a:endParaRPr>
                    </a:p>
                  </a:txBody>
                  <a:tcPr marL="91425" marR="91425" marT="91425" marB="91425"/>
                </a:tc>
                <a:extLst>
                  <a:ext uri="{0D108BD9-81ED-4DB2-BD59-A6C34878D82A}">
                    <a16:rowId xmlns:a16="http://schemas.microsoft.com/office/drawing/2014/main" val="10002"/>
                  </a:ext>
                </a:extLst>
              </a:tr>
              <a:tr h="370500">
                <a:tc>
                  <a:txBody>
                    <a:bodyPr/>
                    <a:lstStyle/>
                    <a:p>
                      <a:pPr marL="0" lvl="0" indent="0" algn="l" rtl="0">
                        <a:spcBef>
                          <a:spcPts val="0"/>
                        </a:spcBef>
                        <a:spcAft>
                          <a:spcPts val="0"/>
                        </a:spcAft>
                        <a:buNone/>
                      </a:pPr>
                      <a:r>
                        <a:rPr lang="en" b="1">
                          <a:solidFill>
                            <a:schemeClr val="dk1"/>
                          </a:solidFill>
                        </a:rPr>
                        <a:t>Hypertension: Yes</a:t>
                      </a:r>
                      <a:endParaRPr b="1">
                        <a:solidFill>
                          <a:schemeClr val="dk1"/>
                        </a:solidFill>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516</a:t>
                      </a:r>
                      <a:endParaRPr>
                        <a:solidFill>
                          <a:schemeClr val="dk1"/>
                        </a:solidFill>
                      </a:endParaRPr>
                    </a:p>
                  </a:txBody>
                  <a:tcPr marL="91425" marR="91425" marT="91425" marB="91425"/>
                </a:tc>
                <a:extLst>
                  <a:ext uri="{0D108BD9-81ED-4DB2-BD59-A6C34878D82A}">
                    <a16:rowId xmlns:a16="http://schemas.microsoft.com/office/drawing/2014/main" val="10003"/>
                  </a:ext>
                </a:extLst>
              </a:tr>
              <a:tr h="370500">
                <a:tc>
                  <a:txBody>
                    <a:bodyPr/>
                    <a:lstStyle/>
                    <a:p>
                      <a:pPr marL="0" lvl="0" indent="0" algn="l" rtl="0">
                        <a:spcBef>
                          <a:spcPts val="0"/>
                        </a:spcBef>
                        <a:spcAft>
                          <a:spcPts val="0"/>
                        </a:spcAft>
                        <a:buClr>
                          <a:schemeClr val="dk1"/>
                        </a:buClr>
                        <a:buSzPts val="1100"/>
                        <a:buFont typeface="Arial"/>
                        <a:buNone/>
                      </a:pPr>
                      <a:r>
                        <a:rPr lang="en" b="1">
                          <a:solidFill>
                            <a:schemeClr val="dk1"/>
                          </a:solidFill>
                        </a:rPr>
                        <a:t>Hypertension: No</a:t>
                      </a:r>
                      <a:endParaRPr b="1">
                        <a:solidFill>
                          <a:schemeClr val="dk1"/>
                        </a:solidFill>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4530</a:t>
                      </a:r>
                      <a:endParaRPr>
                        <a:solidFill>
                          <a:schemeClr val="dk1"/>
                        </a:solidFill>
                      </a:endParaRPr>
                    </a:p>
                  </a:txBody>
                  <a:tcPr marL="91425" marR="91425" marT="91425" marB="91425"/>
                </a:tc>
                <a:extLst>
                  <a:ext uri="{0D108BD9-81ED-4DB2-BD59-A6C34878D82A}">
                    <a16:rowId xmlns:a16="http://schemas.microsoft.com/office/drawing/2014/main" val="10004"/>
                  </a:ext>
                </a:extLst>
              </a:tr>
              <a:tr h="370500">
                <a:tc>
                  <a:txBody>
                    <a:bodyPr/>
                    <a:lstStyle/>
                    <a:p>
                      <a:pPr marL="0" lvl="0" indent="0" algn="l" rtl="0">
                        <a:spcBef>
                          <a:spcPts val="0"/>
                        </a:spcBef>
                        <a:spcAft>
                          <a:spcPts val="0"/>
                        </a:spcAft>
                        <a:buNone/>
                      </a:pPr>
                      <a:r>
                        <a:rPr lang="en" b="1">
                          <a:solidFill>
                            <a:schemeClr val="dk1"/>
                          </a:solidFill>
                        </a:rPr>
                        <a:t>Underweight (15 ≤ BMI &lt; 18.5)</a:t>
                      </a:r>
                      <a:endParaRPr b="1">
                        <a:solidFill>
                          <a:schemeClr val="dk1"/>
                        </a:solidFill>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722</a:t>
                      </a:r>
                      <a:endParaRPr>
                        <a:solidFill>
                          <a:schemeClr val="dk1"/>
                        </a:solidFill>
                      </a:endParaRPr>
                    </a:p>
                  </a:txBody>
                  <a:tcPr marL="91425" marR="91425" marT="91425" marB="91425"/>
                </a:tc>
                <a:extLst>
                  <a:ext uri="{0D108BD9-81ED-4DB2-BD59-A6C34878D82A}">
                    <a16:rowId xmlns:a16="http://schemas.microsoft.com/office/drawing/2014/main" val="10005"/>
                  </a:ext>
                </a:extLst>
              </a:tr>
              <a:tr h="370500">
                <a:tc>
                  <a:txBody>
                    <a:bodyPr/>
                    <a:lstStyle/>
                    <a:p>
                      <a:pPr marL="0" lvl="0" indent="0" algn="l" rtl="0">
                        <a:spcBef>
                          <a:spcPts val="0"/>
                        </a:spcBef>
                        <a:spcAft>
                          <a:spcPts val="0"/>
                        </a:spcAft>
                        <a:buNone/>
                      </a:pPr>
                      <a:r>
                        <a:rPr lang="en" b="1">
                          <a:solidFill>
                            <a:schemeClr val="dk1"/>
                          </a:solidFill>
                        </a:rPr>
                        <a:t>Healthy (18.5 ≤ BMI &lt; 25)</a:t>
                      </a:r>
                      <a:endParaRPr b="1">
                        <a:solidFill>
                          <a:schemeClr val="dk1"/>
                        </a:solidFill>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3276</a:t>
                      </a:r>
                      <a:endParaRPr>
                        <a:solidFill>
                          <a:schemeClr val="dk1"/>
                        </a:solidFill>
                      </a:endParaRPr>
                    </a:p>
                  </a:txBody>
                  <a:tcPr marL="91425" marR="91425" marT="91425" marB="91425"/>
                </a:tc>
                <a:extLst>
                  <a:ext uri="{0D108BD9-81ED-4DB2-BD59-A6C34878D82A}">
                    <a16:rowId xmlns:a16="http://schemas.microsoft.com/office/drawing/2014/main" val="10006"/>
                  </a:ext>
                </a:extLst>
              </a:tr>
              <a:tr h="370500">
                <a:tc>
                  <a:txBody>
                    <a:bodyPr/>
                    <a:lstStyle/>
                    <a:p>
                      <a:pPr marL="0" lvl="0" indent="0" algn="l" rtl="0">
                        <a:spcBef>
                          <a:spcPts val="0"/>
                        </a:spcBef>
                        <a:spcAft>
                          <a:spcPts val="0"/>
                        </a:spcAft>
                        <a:buNone/>
                      </a:pPr>
                      <a:r>
                        <a:rPr lang="en" b="1">
                          <a:solidFill>
                            <a:schemeClr val="dk1"/>
                          </a:solidFill>
                        </a:rPr>
                        <a:t>Overweight (25 ≤ BMI &lt; 30)</a:t>
                      </a:r>
                      <a:endParaRPr b="1">
                        <a:solidFill>
                          <a:schemeClr val="dk1"/>
                        </a:solidFill>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827</a:t>
                      </a:r>
                      <a:endParaRPr>
                        <a:solidFill>
                          <a:schemeClr val="dk1"/>
                        </a:solidFill>
                      </a:endParaRPr>
                    </a:p>
                  </a:txBody>
                  <a:tcPr marL="91425" marR="91425" marT="91425" marB="91425"/>
                </a:tc>
                <a:extLst>
                  <a:ext uri="{0D108BD9-81ED-4DB2-BD59-A6C34878D82A}">
                    <a16:rowId xmlns:a16="http://schemas.microsoft.com/office/drawing/2014/main" val="10007"/>
                  </a:ext>
                </a:extLst>
              </a:tr>
              <a:tr h="370500">
                <a:tc>
                  <a:txBody>
                    <a:bodyPr/>
                    <a:lstStyle/>
                    <a:p>
                      <a:pPr marL="0" lvl="0" indent="0" algn="l" rtl="0">
                        <a:spcBef>
                          <a:spcPts val="0"/>
                        </a:spcBef>
                        <a:spcAft>
                          <a:spcPts val="0"/>
                        </a:spcAft>
                        <a:buNone/>
                      </a:pPr>
                      <a:r>
                        <a:rPr lang="en" b="1">
                          <a:solidFill>
                            <a:schemeClr val="dk1"/>
                          </a:solidFill>
                        </a:rPr>
                        <a:t>Obese (30 ≤ BMI ≤ 55)</a:t>
                      </a:r>
                      <a:endParaRPr b="1">
                        <a:solidFill>
                          <a:schemeClr val="dk1"/>
                        </a:solidFill>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221</a:t>
                      </a:r>
                      <a:endParaRPr>
                        <a:solidFill>
                          <a:schemeClr val="dk1"/>
                        </a:solidFill>
                      </a:endParaRPr>
                    </a:p>
                  </a:txBody>
                  <a:tcPr marL="91425" marR="91425" marT="91425" marB="91425"/>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p:cNvPicPr preferRelativeResize="0"/>
          <p:nvPr/>
        </p:nvPicPr>
        <p:blipFill>
          <a:blip r:embed="rId3">
            <a:alphaModFix/>
          </a:blip>
          <a:stretch>
            <a:fillRect/>
          </a:stretch>
        </p:blipFill>
        <p:spPr>
          <a:xfrm>
            <a:off x="581887" y="-5"/>
            <a:ext cx="7980224" cy="49329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Transformation of the data</a:t>
            </a:r>
            <a:endParaRPr/>
          </a:p>
        </p:txBody>
      </p:sp>
      <p:sp>
        <p:nvSpPr>
          <p:cNvPr id="98" name="Google Shape;98;p19"/>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Using R Box-cox powered transformed function to transform the response variables so our data looks more normally distributed</a:t>
            </a:r>
            <a:endParaRPr/>
          </a:p>
          <a:p>
            <a:pPr marL="914400" lvl="1" indent="-304800" algn="l" rtl="0">
              <a:spcBef>
                <a:spcPts val="0"/>
              </a:spcBef>
              <a:spcAft>
                <a:spcPts val="0"/>
              </a:spcAft>
              <a:buSzPts val="1200"/>
              <a:buChar char="○"/>
            </a:pPr>
            <a:r>
              <a:rPr lang="en">
                <a:solidFill>
                  <a:schemeClr val="dk1"/>
                </a:solidFill>
                <a:highlight>
                  <a:srgbClr val="FFFFFF"/>
                </a:highlight>
              </a:rPr>
              <a:t>Pulse Rate λ </a:t>
            </a:r>
            <a:r>
              <a:rPr lang="en">
                <a:solidFill>
                  <a:schemeClr val="dk1"/>
                </a:solidFill>
                <a:highlight>
                  <a:schemeClr val="lt1"/>
                </a:highlight>
              </a:rPr>
              <a:t>≈ </a:t>
            </a:r>
            <a:r>
              <a:rPr lang="en">
                <a:solidFill>
                  <a:schemeClr val="dk1"/>
                </a:solidFill>
                <a:highlight>
                  <a:srgbClr val="FFFFFF"/>
                </a:highlight>
              </a:rPr>
              <a:t>0.167</a:t>
            </a:r>
            <a:endParaRPr>
              <a:solidFill>
                <a:schemeClr val="dk1"/>
              </a:solidFill>
              <a:highlight>
                <a:srgbClr val="FFFFFF"/>
              </a:highlight>
            </a:endParaRPr>
          </a:p>
          <a:p>
            <a:pPr marL="914400" lvl="1" indent="-304800" algn="l" rtl="0">
              <a:spcBef>
                <a:spcPts val="0"/>
              </a:spcBef>
              <a:spcAft>
                <a:spcPts val="0"/>
              </a:spcAft>
              <a:buClr>
                <a:schemeClr val="dk1"/>
              </a:buClr>
              <a:buSzPts val="1200"/>
              <a:buChar char="○"/>
            </a:pPr>
            <a:r>
              <a:rPr lang="en">
                <a:solidFill>
                  <a:schemeClr val="dk1"/>
                </a:solidFill>
                <a:highlight>
                  <a:schemeClr val="lt1"/>
                </a:highlight>
              </a:rPr>
              <a:t>Glucose λ ≈ -0.562</a:t>
            </a:r>
            <a:endParaRPr>
              <a:solidFill>
                <a:schemeClr val="dk1"/>
              </a:solidFill>
              <a:highlight>
                <a:srgbClr val="FFFFFF"/>
              </a:highlight>
            </a:endParaRPr>
          </a:p>
          <a:p>
            <a:pPr marL="914400" lvl="1" indent="-304800" algn="l" rtl="0">
              <a:spcBef>
                <a:spcPts val="0"/>
              </a:spcBef>
              <a:spcAft>
                <a:spcPts val="0"/>
              </a:spcAft>
              <a:buSzPts val="1200"/>
              <a:buChar char="○"/>
            </a:pPr>
            <a:r>
              <a:rPr lang="en">
                <a:solidFill>
                  <a:schemeClr val="dk1"/>
                </a:solidFill>
                <a:highlight>
                  <a:srgbClr val="FFFFFF"/>
                </a:highlight>
              </a:rPr>
              <a:t>Systolic Blood Pressure (SBP) λ </a:t>
            </a:r>
            <a:r>
              <a:rPr lang="en">
                <a:solidFill>
                  <a:schemeClr val="dk1"/>
                </a:solidFill>
                <a:highlight>
                  <a:schemeClr val="lt1"/>
                </a:highlight>
              </a:rPr>
              <a:t>≈ </a:t>
            </a:r>
            <a:r>
              <a:rPr lang="en">
                <a:solidFill>
                  <a:schemeClr val="dk1"/>
                </a:solidFill>
                <a:highlight>
                  <a:srgbClr val="FFFFFF"/>
                </a:highlight>
              </a:rPr>
              <a:t>-0.589</a:t>
            </a:r>
            <a:endParaRPr>
              <a:solidFill>
                <a:schemeClr val="dk1"/>
              </a:solidFill>
              <a:highlight>
                <a:srgbClr val="FFFFFF"/>
              </a:highlight>
            </a:endParaRPr>
          </a:p>
          <a:p>
            <a:pPr marL="914400" lvl="1" indent="-304800" algn="l" rtl="0">
              <a:spcBef>
                <a:spcPts val="0"/>
              </a:spcBef>
              <a:spcAft>
                <a:spcPts val="0"/>
              </a:spcAft>
              <a:buSzPts val="1200"/>
              <a:buChar char="○"/>
            </a:pPr>
            <a:r>
              <a:rPr lang="en">
                <a:solidFill>
                  <a:schemeClr val="dk1"/>
                </a:solidFill>
                <a:highlight>
                  <a:srgbClr val="FFFFFF"/>
                </a:highlight>
              </a:rPr>
              <a:t>Diastolic Blood Pressure (DBP) λ </a:t>
            </a:r>
            <a:r>
              <a:rPr lang="en">
                <a:solidFill>
                  <a:schemeClr val="dk1"/>
                </a:solidFill>
                <a:highlight>
                  <a:schemeClr val="lt1"/>
                </a:highlight>
              </a:rPr>
              <a:t>≈</a:t>
            </a:r>
            <a:r>
              <a:rPr lang="en">
                <a:solidFill>
                  <a:schemeClr val="dk1"/>
                </a:solidFill>
                <a:highlight>
                  <a:srgbClr val="FFFFFF"/>
                </a:highlight>
              </a:rPr>
              <a:t> 0.029 </a:t>
            </a:r>
            <a:endParaRPr>
              <a:solidFill>
                <a:schemeClr val="dk1"/>
              </a:solidFill>
              <a:highlight>
                <a:srgbClr val="FFFFFF"/>
              </a:highlight>
            </a:endParaRPr>
          </a:p>
          <a:p>
            <a:pPr marL="457200" lvl="0" indent="0" algn="l" rtl="0">
              <a:spcBef>
                <a:spcPts val="1200"/>
              </a:spcBef>
              <a:spcAft>
                <a:spcPts val="1200"/>
              </a:spcAft>
              <a:buNone/>
            </a:pPr>
            <a:endParaRPr>
              <a:solidFill>
                <a:schemeClr val="dk1"/>
              </a:solidFill>
              <a:highlight>
                <a:srgbClr val="FFFFFF"/>
              </a:highlight>
            </a:endParaRPr>
          </a:p>
        </p:txBody>
      </p:sp>
      <p:graphicFrame>
        <p:nvGraphicFramePr>
          <p:cNvPr id="99" name="Google Shape;99;p19"/>
          <p:cNvGraphicFramePr/>
          <p:nvPr/>
        </p:nvGraphicFramePr>
        <p:xfrm>
          <a:off x="4769275" y="911825"/>
          <a:ext cx="4063025" cy="3333904"/>
        </p:xfrm>
        <a:graphic>
          <a:graphicData uri="http://schemas.openxmlformats.org/drawingml/2006/table">
            <a:tbl>
              <a:tblPr>
                <a:noFill/>
                <a:tableStyleId>{ADC5F4CB-E676-488F-BFCB-5E0939934A82}</a:tableStyleId>
              </a:tblPr>
              <a:tblGrid>
                <a:gridCol w="2077750">
                  <a:extLst>
                    <a:ext uri="{9D8B030D-6E8A-4147-A177-3AD203B41FA5}">
                      <a16:colId xmlns:a16="http://schemas.microsoft.com/office/drawing/2014/main" val="20000"/>
                    </a:ext>
                  </a:extLst>
                </a:gridCol>
                <a:gridCol w="685000">
                  <a:extLst>
                    <a:ext uri="{9D8B030D-6E8A-4147-A177-3AD203B41FA5}">
                      <a16:colId xmlns:a16="http://schemas.microsoft.com/office/drawing/2014/main" val="20001"/>
                    </a:ext>
                  </a:extLst>
                </a:gridCol>
                <a:gridCol w="1300275">
                  <a:extLst>
                    <a:ext uri="{9D8B030D-6E8A-4147-A177-3AD203B41FA5}">
                      <a16:colId xmlns:a16="http://schemas.microsoft.com/office/drawing/2014/main" val="20002"/>
                    </a:ext>
                  </a:extLst>
                </a:gridCol>
              </a:tblGrid>
              <a:tr h="375050">
                <a:tc>
                  <a:txBody>
                    <a:bodyPr/>
                    <a:lstStyle/>
                    <a:p>
                      <a:pPr marL="0" lvl="0" indent="0" algn="l" rtl="0">
                        <a:spcBef>
                          <a:spcPts val="0"/>
                        </a:spcBef>
                        <a:spcAft>
                          <a:spcPts val="0"/>
                        </a:spcAft>
                        <a:buNone/>
                      </a:pPr>
                      <a:endParaRPr b="1"/>
                    </a:p>
                  </a:txBody>
                  <a:tcPr marL="91425" marR="91425" marT="91425" marB="91425"/>
                </a:tc>
                <a:tc gridSpan="2">
                  <a:txBody>
                    <a:bodyPr/>
                    <a:lstStyle/>
                    <a:p>
                      <a:pPr marL="0" lvl="0" indent="0" algn="ctr" rtl="0">
                        <a:spcBef>
                          <a:spcPts val="0"/>
                        </a:spcBef>
                        <a:spcAft>
                          <a:spcPts val="0"/>
                        </a:spcAft>
                        <a:buNone/>
                      </a:pPr>
                      <a:r>
                        <a:rPr lang="en" b="1"/>
                        <a:t>Transformation Data</a:t>
                      </a:r>
                      <a:endParaRPr b="1"/>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637600">
                <a:tc>
                  <a:txBody>
                    <a:bodyPr/>
                    <a:lstStyle/>
                    <a:p>
                      <a:pPr marL="0" lvl="0" indent="0" algn="l" rtl="0">
                        <a:spcBef>
                          <a:spcPts val="0"/>
                        </a:spcBef>
                        <a:spcAft>
                          <a:spcPts val="0"/>
                        </a:spcAft>
                        <a:buNone/>
                      </a:pPr>
                      <a:r>
                        <a:rPr lang="en" b="1"/>
                        <a:t>Variable </a:t>
                      </a:r>
                      <a:endParaRPr b="1"/>
                    </a:p>
                  </a:txBody>
                  <a:tcPr marL="91425" marR="91425" marT="91425" marB="91425"/>
                </a:tc>
                <a:tc>
                  <a:txBody>
                    <a:bodyPr/>
                    <a:lstStyle/>
                    <a:p>
                      <a:pPr marL="0" lvl="0" indent="0" algn="l" rtl="0">
                        <a:spcBef>
                          <a:spcPts val="0"/>
                        </a:spcBef>
                        <a:spcAft>
                          <a:spcPts val="0"/>
                        </a:spcAft>
                        <a:buNone/>
                      </a:pPr>
                      <a:r>
                        <a:rPr lang="en" b="1"/>
                        <a:t>Mean</a:t>
                      </a:r>
                      <a:endParaRPr b="1"/>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solidFill>
                            <a:schemeClr val="dk1"/>
                          </a:solidFill>
                        </a:rPr>
                        <a:t>Standard Deviation</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1300">
                <a:tc>
                  <a:txBody>
                    <a:bodyPr/>
                    <a:lstStyle/>
                    <a:p>
                      <a:pPr marL="0" lvl="0" indent="0" algn="l" rtl="0">
                        <a:spcBef>
                          <a:spcPts val="0"/>
                        </a:spcBef>
                        <a:spcAft>
                          <a:spcPts val="0"/>
                        </a:spcAft>
                        <a:buNone/>
                      </a:pPr>
                      <a:r>
                        <a:rPr lang="en" b="1"/>
                        <a:t>Pulse Rate (bpm)</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6.34</a:t>
                      </a: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0.31</a:t>
                      </a:r>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2"/>
                  </a:ext>
                </a:extLst>
              </a:tr>
              <a:tr h="506350">
                <a:tc>
                  <a:txBody>
                    <a:bodyPr/>
                    <a:lstStyle/>
                    <a:p>
                      <a:pPr marL="0" lvl="0" indent="0" algn="l" rtl="0">
                        <a:spcBef>
                          <a:spcPts val="0"/>
                        </a:spcBef>
                        <a:spcAft>
                          <a:spcPts val="0"/>
                        </a:spcAft>
                        <a:buNone/>
                      </a:pPr>
                      <a:r>
                        <a:rPr lang="en" b="1"/>
                        <a:t>Glucose (</a:t>
                      </a:r>
                      <a:r>
                        <a:rPr lang="en" b="1">
                          <a:solidFill>
                            <a:schemeClr val="dk1"/>
                          </a:solidFill>
                        </a:rPr>
                        <a:t>mg/dL or mmol/L)</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1.18</a:t>
                      </a:r>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0.07</a:t>
                      </a:r>
                      <a:endParaRPr/>
                    </a:p>
                  </a:txBody>
                  <a:tcPr marL="91425" marR="91425" marT="91425" marB="91425"/>
                </a:tc>
                <a:extLst>
                  <a:ext uri="{0D108BD9-81ED-4DB2-BD59-A6C34878D82A}">
                    <a16:rowId xmlns:a16="http://schemas.microsoft.com/office/drawing/2014/main" val="10003"/>
                  </a:ext>
                </a:extLst>
              </a:tr>
              <a:tr h="637600">
                <a:tc>
                  <a:txBody>
                    <a:bodyPr/>
                    <a:lstStyle/>
                    <a:p>
                      <a:pPr marL="0" lvl="0" indent="0" algn="l" rtl="0">
                        <a:spcBef>
                          <a:spcPts val="0"/>
                        </a:spcBef>
                        <a:spcAft>
                          <a:spcPts val="0"/>
                        </a:spcAft>
                        <a:buNone/>
                      </a:pPr>
                      <a:r>
                        <a:rPr lang="en" b="1"/>
                        <a:t>Systolic Blood Pressure (mmHg)</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1.60</a:t>
                      </a:r>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0.01</a:t>
                      </a:r>
                      <a:endParaRPr/>
                    </a:p>
                  </a:txBody>
                  <a:tcPr marL="91425" marR="91425" marT="91425" marB="91425"/>
                </a:tc>
                <a:extLst>
                  <a:ext uri="{0D108BD9-81ED-4DB2-BD59-A6C34878D82A}">
                    <a16:rowId xmlns:a16="http://schemas.microsoft.com/office/drawing/2014/main" val="10004"/>
                  </a:ext>
                </a:extLst>
              </a:tr>
              <a:tr h="637600">
                <a:tc>
                  <a:txBody>
                    <a:bodyPr/>
                    <a:lstStyle/>
                    <a:p>
                      <a:pPr marL="0" lvl="0" indent="0" algn="l" rtl="0">
                        <a:spcBef>
                          <a:spcPts val="0"/>
                        </a:spcBef>
                        <a:spcAft>
                          <a:spcPts val="0"/>
                        </a:spcAft>
                        <a:buNone/>
                      </a:pPr>
                      <a:r>
                        <a:rPr lang="en" b="1"/>
                        <a:t>Diastolic Blood Pressure </a:t>
                      </a:r>
                      <a:r>
                        <a:rPr lang="en" b="1">
                          <a:solidFill>
                            <a:schemeClr val="dk1"/>
                          </a:solidFill>
                        </a:rPr>
                        <a:t>(mmHg)</a:t>
                      </a:r>
                      <a:endParaRPr b="1"/>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4.69</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lnSpc>
                          <a:spcPct val="120000"/>
                        </a:lnSpc>
                        <a:spcBef>
                          <a:spcPts val="0"/>
                        </a:spcBef>
                        <a:spcAft>
                          <a:spcPts val="0"/>
                        </a:spcAft>
                        <a:buClr>
                          <a:schemeClr val="dk1"/>
                        </a:buClr>
                        <a:buSzPts val="1100"/>
                        <a:buFont typeface="Arial"/>
                        <a:buNone/>
                      </a:pPr>
                      <a:r>
                        <a:rPr lang="en">
                          <a:solidFill>
                            <a:schemeClr val="dk1"/>
                          </a:solidFill>
                          <a:highlight>
                            <a:srgbClr val="FFFFFF"/>
                          </a:highlight>
                        </a:rPr>
                        <a:t>0.17</a:t>
                      </a:r>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Methods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a:t>Statistical Methods used for Analysis</a:t>
            </a:r>
            <a:endParaRPr/>
          </a:p>
        </p:txBody>
      </p:sp>
      <p:sp>
        <p:nvSpPr>
          <p:cNvPr id="110" name="Google Shape;110;p2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457200" lvl="0" indent="-342900" algn="l" rtl="0">
              <a:lnSpc>
                <a:spcPct val="105000"/>
              </a:lnSpc>
              <a:spcBef>
                <a:spcPts val="0"/>
              </a:spcBef>
              <a:spcAft>
                <a:spcPts val="0"/>
              </a:spcAft>
              <a:buClr>
                <a:schemeClr val="dk1"/>
              </a:buClr>
              <a:buSzPts val="1800"/>
              <a:buAutoNum type="arabicPeriod"/>
            </a:pPr>
            <a:r>
              <a:rPr lang="en">
                <a:solidFill>
                  <a:schemeClr val="dk1"/>
                </a:solidFill>
              </a:rPr>
              <a:t>One Sample Hotelling </a:t>
            </a:r>
            <a:r>
              <a:rPr lang="en">
                <a:solidFill>
                  <a:schemeClr val="dk1"/>
                </a:solidFill>
                <a:highlight>
                  <a:schemeClr val="lt1"/>
                </a:highlight>
              </a:rPr>
              <a:t>T</a:t>
            </a:r>
            <a:r>
              <a:rPr lang="en" baseline="30000">
                <a:solidFill>
                  <a:schemeClr val="dk1"/>
                </a:solidFill>
                <a:highlight>
                  <a:schemeClr val="lt1"/>
                </a:highlight>
              </a:rPr>
              <a:t>2</a:t>
            </a:r>
            <a:r>
              <a:rPr lang="en">
                <a:solidFill>
                  <a:schemeClr val="dk1"/>
                </a:solidFill>
              </a:rPr>
              <a:t> Test </a:t>
            </a:r>
            <a:endParaRPr>
              <a:solidFill>
                <a:schemeClr val="dk1"/>
              </a:solidFill>
            </a:endParaRPr>
          </a:p>
          <a:p>
            <a:pPr marL="914400" lvl="1" indent="-342900" algn="l" rtl="0">
              <a:lnSpc>
                <a:spcPct val="105000"/>
              </a:lnSpc>
              <a:spcBef>
                <a:spcPts val="0"/>
              </a:spcBef>
              <a:spcAft>
                <a:spcPts val="0"/>
              </a:spcAft>
              <a:buClr>
                <a:schemeClr val="dk1"/>
              </a:buClr>
              <a:buSzPts val="1800"/>
              <a:buAutoNum type="alphaLcPeriod"/>
            </a:pPr>
            <a:r>
              <a:rPr lang="en">
                <a:solidFill>
                  <a:schemeClr val="dk1"/>
                </a:solidFill>
              </a:rPr>
              <a:t>To test whether the average vector of health measurements (pulse rate, SBP, DBP, glucose) differs significantly from a known or hypothesized population mean vector.</a:t>
            </a:r>
            <a:endParaRPr>
              <a:solidFill>
                <a:schemeClr val="dk1"/>
              </a:solidFill>
            </a:endParaRPr>
          </a:p>
          <a:p>
            <a:pPr marL="457200" lvl="0" indent="-342900" algn="l" rtl="0">
              <a:lnSpc>
                <a:spcPct val="105000"/>
              </a:lnSpc>
              <a:spcBef>
                <a:spcPts val="0"/>
              </a:spcBef>
              <a:spcAft>
                <a:spcPts val="0"/>
              </a:spcAft>
              <a:buClr>
                <a:schemeClr val="dk1"/>
              </a:buClr>
              <a:buSzPts val="1800"/>
              <a:buAutoNum type="arabicPeriod"/>
            </a:pPr>
            <a:r>
              <a:rPr lang="en">
                <a:solidFill>
                  <a:schemeClr val="dk1"/>
                </a:solidFill>
              </a:rPr>
              <a:t>One-Way &amp; Two-Way MANOVA</a:t>
            </a:r>
            <a:endParaRPr>
              <a:solidFill>
                <a:schemeClr val="dk1"/>
              </a:solidFill>
            </a:endParaRPr>
          </a:p>
          <a:p>
            <a:pPr marL="914400" lvl="1" indent="-342900" algn="l" rtl="0">
              <a:lnSpc>
                <a:spcPct val="105000"/>
              </a:lnSpc>
              <a:spcBef>
                <a:spcPts val="0"/>
              </a:spcBef>
              <a:spcAft>
                <a:spcPts val="0"/>
              </a:spcAft>
              <a:buClr>
                <a:schemeClr val="dk1"/>
              </a:buClr>
              <a:buSzPts val="1800"/>
              <a:buAutoNum type="alphaLcPeriod"/>
            </a:pPr>
            <a:r>
              <a:rPr lang="en">
                <a:solidFill>
                  <a:schemeClr val="dk1"/>
                </a:solidFill>
              </a:rPr>
              <a:t>To test if the multivariate means of the health measurements differ across groups defined by one factor (One-Way, e.g., BMI category) or two factors (Two-Way, e.g., Gender × Hypertensive status), considering the dependent variables together.</a:t>
            </a:r>
            <a:endParaRPr>
              <a:solidFill>
                <a:schemeClr val="dk1"/>
              </a:solidFill>
            </a:endParaRPr>
          </a:p>
          <a:p>
            <a:pPr marL="457200" lvl="0" indent="-355600" algn="l" rtl="0">
              <a:lnSpc>
                <a:spcPct val="105000"/>
              </a:lnSpc>
              <a:spcBef>
                <a:spcPts val="0"/>
              </a:spcBef>
              <a:spcAft>
                <a:spcPts val="0"/>
              </a:spcAft>
              <a:buClr>
                <a:schemeClr val="dk1"/>
              </a:buClr>
              <a:buSzPts val="2000"/>
              <a:buAutoNum type="arabicPeriod"/>
            </a:pPr>
            <a:r>
              <a:rPr lang="en" sz="2000">
                <a:solidFill>
                  <a:schemeClr val="dk1"/>
                </a:solidFill>
              </a:rPr>
              <a:t>Multivariate Linear Regression</a:t>
            </a:r>
            <a:endParaRPr sz="2000">
              <a:solidFill>
                <a:schemeClr val="dk1"/>
              </a:solidFill>
            </a:endParaRPr>
          </a:p>
          <a:p>
            <a:pPr marL="914400" lvl="1" indent="-317500" algn="l" rtl="0">
              <a:lnSpc>
                <a:spcPct val="105000"/>
              </a:lnSpc>
              <a:spcBef>
                <a:spcPts val="0"/>
              </a:spcBef>
              <a:spcAft>
                <a:spcPts val="0"/>
              </a:spcAft>
              <a:buClr>
                <a:schemeClr val="dk1"/>
              </a:buClr>
              <a:buSzPts val="1400"/>
              <a:buAutoNum type="alphaLcPeriod"/>
            </a:pPr>
            <a:r>
              <a:rPr lang="en">
                <a:solidFill>
                  <a:schemeClr val="dk1"/>
                </a:solidFill>
              </a:rPr>
              <a:t>To model the relationship between multiple continuous dependent variables (pulse rate, SBP, DBP, glucose) and multiple predictors (age, gender, hypertensive status, BMI category), and determine if the predictors significantly explain variation in the health outcomes.</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Statistical Methods used for Analysis</a:t>
            </a:r>
            <a:endParaRPr/>
          </a:p>
        </p:txBody>
      </p:sp>
      <p:sp>
        <p:nvSpPr>
          <p:cNvPr id="116" name="Google Shape;116;p22"/>
          <p:cNvSpPr txBox="1">
            <a:spLocks noGrp="1"/>
          </p:cNvSpPr>
          <p:nvPr>
            <p:ph type="body" idx="1"/>
          </p:nvPr>
        </p:nvSpPr>
        <p:spPr>
          <a:xfrm>
            <a:off x="311700" y="1085750"/>
            <a:ext cx="8520600" cy="3638700"/>
          </a:xfrm>
          <a:prstGeom prst="rect">
            <a:avLst/>
          </a:prstGeom>
        </p:spPr>
        <p:txBody>
          <a:bodyPr spcFirstLastPara="1" wrap="square" lIns="91425" tIns="91425" rIns="91425" bIns="91425" anchor="t" anchorCtr="0">
            <a:noAutofit/>
          </a:bodyPr>
          <a:lstStyle/>
          <a:p>
            <a:pPr marL="101600" lvl="0" indent="0" algn="l" rtl="0">
              <a:lnSpc>
                <a:spcPct val="105000"/>
              </a:lnSpc>
              <a:spcBef>
                <a:spcPts val="0"/>
              </a:spcBef>
              <a:spcAft>
                <a:spcPts val="0"/>
              </a:spcAft>
              <a:buClr>
                <a:schemeClr val="dk1"/>
              </a:buClr>
              <a:buSzPts val="2000"/>
              <a:buNone/>
            </a:pPr>
            <a:r>
              <a:rPr lang="en" sz="2000" dirty="0">
                <a:solidFill>
                  <a:schemeClr val="dk1"/>
                </a:solidFill>
              </a:rPr>
              <a:t>4. MANCOVA </a:t>
            </a:r>
            <a:endParaRPr sz="2000" dirty="0">
              <a:solidFill>
                <a:schemeClr val="dk1"/>
              </a:solidFill>
            </a:endParaRPr>
          </a:p>
          <a:p>
            <a:pPr marL="914400" lvl="1" indent="-317500" algn="l" rtl="0">
              <a:lnSpc>
                <a:spcPct val="105000"/>
              </a:lnSpc>
              <a:spcBef>
                <a:spcPts val="0"/>
              </a:spcBef>
              <a:spcAft>
                <a:spcPts val="0"/>
              </a:spcAft>
              <a:buClr>
                <a:schemeClr val="dk1"/>
              </a:buClr>
              <a:buSzPts val="1400"/>
              <a:buAutoNum type="alphaLcPeriod"/>
            </a:pPr>
            <a:r>
              <a:rPr lang="en" dirty="0">
                <a:solidFill>
                  <a:schemeClr val="dk1"/>
                </a:solidFill>
              </a:rPr>
              <a:t>To compare group differences on the health measurements while controlling for continuous covariates, like age.</a:t>
            </a:r>
            <a:endParaRPr lang="en-US" dirty="0">
              <a:solidFill>
                <a:schemeClr val="dk1"/>
              </a:solidFill>
            </a:endParaRPr>
          </a:p>
          <a:p>
            <a:pPr marL="101600" lvl="0" indent="0" algn="l" rtl="0">
              <a:lnSpc>
                <a:spcPct val="105000"/>
              </a:lnSpc>
              <a:spcBef>
                <a:spcPts val="0"/>
              </a:spcBef>
              <a:spcAft>
                <a:spcPts val="0"/>
              </a:spcAft>
              <a:buClr>
                <a:schemeClr val="dk1"/>
              </a:buClr>
              <a:buSzPts val="2000"/>
              <a:buNone/>
            </a:pPr>
            <a:r>
              <a:rPr lang="en-US" sz="2000" dirty="0">
                <a:solidFill>
                  <a:schemeClr val="dk1"/>
                </a:solidFill>
              </a:rPr>
              <a:t>5. Post-Hoc Analysis Confidence Intervals</a:t>
            </a:r>
          </a:p>
          <a:p>
            <a:pPr marL="914400" lvl="1" indent="-317500" algn="l" rtl="0">
              <a:lnSpc>
                <a:spcPct val="105000"/>
              </a:lnSpc>
              <a:spcBef>
                <a:spcPts val="0"/>
              </a:spcBef>
              <a:spcAft>
                <a:spcPts val="0"/>
              </a:spcAft>
              <a:buClr>
                <a:schemeClr val="dk1"/>
              </a:buClr>
              <a:buSzPts val="1400"/>
              <a:buAutoNum type="alphaLcPeriod"/>
            </a:pPr>
            <a:r>
              <a:rPr lang="en" dirty="0">
                <a:solidFill>
                  <a:schemeClr val="dk1"/>
                </a:solidFill>
              </a:rPr>
              <a:t>After a significant One-Way &amp; Two-Way MANOVA or MANCOVA, to pinpoint which specific groups differ on which specific dependent variables, and to estimate the size and direction of these differences with confidence intervals. </a:t>
            </a:r>
            <a:endParaRPr dirty="0">
              <a:solidFill>
                <a:schemeClr val="dk1"/>
              </a:solidFill>
            </a:endParaRPr>
          </a:p>
          <a:p>
            <a:pPr marL="0" lvl="0" indent="0" algn="l" rtl="0">
              <a:lnSpc>
                <a:spcPct val="105000"/>
              </a:lnSpc>
              <a:spcBef>
                <a:spcPts val="0"/>
              </a:spcBef>
              <a:spcAft>
                <a:spcPts val="0"/>
              </a:spcAft>
              <a:buSzPts val="852"/>
              <a:buNone/>
            </a:pPr>
            <a:endParaRPr sz="2000"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Statistical Analysis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Response and Predictors</a:t>
            </a:r>
            <a:endParaRPr/>
          </a:p>
        </p:txBody>
      </p:sp>
      <p:sp>
        <p:nvSpPr>
          <p:cNvPr id="127" name="Google Shape;127;p24"/>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Response Variables:</a:t>
            </a:r>
            <a:endParaRPr b="1"/>
          </a:p>
          <a:p>
            <a:pPr marL="457200" lvl="0" indent="-317500" algn="l" rtl="0">
              <a:spcBef>
                <a:spcPts val="1200"/>
              </a:spcBef>
              <a:spcAft>
                <a:spcPts val="0"/>
              </a:spcAft>
              <a:buSzPts val="1400"/>
              <a:buAutoNum type="arabicPeriod"/>
            </a:pPr>
            <a:r>
              <a:rPr lang="en"/>
              <a:t>Pulse Rate </a:t>
            </a:r>
            <a:endParaRPr/>
          </a:p>
          <a:p>
            <a:pPr marL="457200" lvl="0" indent="-317500" algn="l" rtl="0">
              <a:spcBef>
                <a:spcPts val="0"/>
              </a:spcBef>
              <a:spcAft>
                <a:spcPts val="0"/>
              </a:spcAft>
              <a:buSzPts val="1400"/>
              <a:buAutoNum type="arabicPeriod"/>
            </a:pPr>
            <a:r>
              <a:rPr lang="en"/>
              <a:t>Glucose</a:t>
            </a:r>
            <a:endParaRPr/>
          </a:p>
          <a:p>
            <a:pPr marL="457200" lvl="0" indent="-317500" algn="l" rtl="0">
              <a:lnSpc>
                <a:spcPct val="100000"/>
              </a:lnSpc>
              <a:spcBef>
                <a:spcPts val="0"/>
              </a:spcBef>
              <a:spcAft>
                <a:spcPts val="0"/>
              </a:spcAft>
              <a:buSzPts val="1400"/>
              <a:buAutoNum type="arabicPeriod"/>
            </a:pPr>
            <a:r>
              <a:rPr lang="en">
                <a:solidFill>
                  <a:schemeClr val="dk1"/>
                </a:solidFill>
              </a:rPr>
              <a:t>Systolic Blood Pressure</a:t>
            </a:r>
            <a:endParaRPr>
              <a:solidFill>
                <a:schemeClr val="dk1"/>
              </a:solidFill>
            </a:endParaRPr>
          </a:p>
          <a:p>
            <a:pPr marL="457200" lvl="0" indent="-317500" algn="l" rtl="0">
              <a:lnSpc>
                <a:spcPct val="100000"/>
              </a:lnSpc>
              <a:spcBef>
                <a:spcPts val="0"/>
              </a:spcBef>
              <a:spcAft>
                <a:spcPts val="0"/>
              </a:spcAft>
              <a:buClr>
                <a:schemeClr val="dk1"/>
              </a:buClr>
              <a:buSzPts val="1400"/>
              <a:buAutoNum type="arabicPeriod"/>
            </a:pPr>
            <a:r>
              <a:rPr lang="en">
                <a:solidFill>
                  <a:schemeClr val="dk1"/>
                </a:solidFill>
              </a:rPr>
              <a:t>Diastolic Blood Pressure</a:t>
            </a:r>
            <a:endParaRPr>
              <a:solidFill>
                <a:schemeClr val="dk1"/>
              </a:solidFill>
            </a:endParaRPr>
          </a:p>
        </p:txBody>
      </p:sp>
      <p:sp>
        <p:nvSpPr>
          <p:cNvPr id="128" name="Google Shape;128;p24"/>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Key Predictors:</a:t>
            </a:r>
            <a:endParaRPr b="1"/>
          </a:p>
          <a:p>
            <a:pPr marL="457200" lvl="0" indent="-317500" algn="l" rtl="0">
              <a:spcBef>
                <a:spcPts val="1200"/>
              </a:spcBef>
              <a:spcAft>
                <a:spcPts val="0"/>
              </a:spcAft>
              <a:buSzPts val="1400"/>
              <a:buAutoNum type="arabicPeriod"/>
            </a:pPr>
            <a:r>
              <a:rPr lang="en"/>
              <a:t>Age</a:t>
            </a:r>
            <a:endParaRPr/>
          </a:p>
          <a:p>
            <a:pPr marL="457200" lvl="0" indent="-317500" algn="l" rtl="0">
              <a:spcBef>
                <a:spcPts val="0"/>
              </a:spcBef>
              <a:spcAft>
                <a:spcPts val="0"/>
              </a:spcAft>
              <a:buSzPts val="1400"/>
              <a:buAutoNum type="arabicPeriod"/>
            </a:pPr>
            <a:r>
              <a:rPr lang="en"/>
              <a:t>Gender (Male/Female)</a:t>
            </a:r>
            <a:endParaRPr/>
          </a:p>
          <a:p>
            <a:pPr marL="457200" lvl="0" indent="-317500" algn="l" rtl="0">
              <a:spcBef>
                <a:spcPts val="0"/>
              </a:spcBef>
              <a:spcAft>
                <a:spcPts val="0"/>
              </a:spcAft>
              <a:buSzPts val="1400"/>
              <a:buAutoNum type="arabicPeriod"/>
            </a:pPr>
            <a:r>
              <a:rPr lang="en"/>
              <a:t>BMI Categories (Underweight, Healthy, Overweight, Obese)</a:t>
            </a:r>
            <a:endParaRPr/>
          </a:p>
          <a:p>
            <a:pPr marL="0" lvl="0" indent="0" algn="l" rtl="0">
              <a:spcBef>
                <a:spcPts val="1200"/>
              </a:spcBef>
              <a:spcAft>
                <a:spcPts val="0"/>
              </a:spcAft>
              <a:buNone/>
            </a:pPr>
            <a:r>
              <a:rPr lang="en" b="1"/>
              <a:t>Potential Predictor:</a:t>
            </a:r>
            <a:endParaRPr b="1"/>
          </a:p>
          <a:p>
            <a:pPr marL="457200" lvl="0" indent="-317500" algn="l" rtl="0">
              <a:spcBef>
                <a:spcPts val="1200"/>
              </a:spcBef>
              <a:spcAft>
                <a:spcPts val="0"/>
              </a:spcAft>
              <a:buSzPts val="1400"/>
              <a:buAutoNum type="arabicPeriod"/>
            </a:pPr>
            <a:r>
              <a:rPr lang="en"/>
              <a:t>Hypertensive (Yes/No)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lnSpc>
                <a:spcPct val="115000"/>
              </a:lnSpc>
              <a:spcBef>
                <a:spcPts val="0"/>
              </a:spcBef>
              <a:spcAft>
                <a:spcPts val="0"/>
              </a:spcAft>
              <a:buNone/>
            </a:pPr>
            <a:r>
              <a:rPr lang="en" sz="2500"/>
              <a:t>One Sample Hotelling </a:t>
            </a:r>
            <a:r>
              <a:rPr lang="en" sz="2500">
                <a:highlight>
                  <a:srgbClr val="FFFFFF"/>
                </a:highlight>
              </a:rPr>
              <a:t>T</a:t>
            </a:r>
            <a:r>
              <a:rPr lang="en" sz="2500" baseline="30000">
                <a:highlight>
                  <a:srgbClr val="FFFFFF"/>
                </a:highlight>
              </a:rPr>
              <a:t>2</a:t>
            </a:r>
            <a:r>
              <a:rPr lang="en" sz="2500"/>
              <a:t> Test</a:t>
            </a:r>
            <a:endParaRPr sz="2500"/>
          </a:p>
        </p:txBody>
      </p:sp>
      <p:sp>
        <p:nvSpPr>
          <p:cNvPr id="134" name="Google Shape;134;p2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Tested each of the continuous variables individually to see if the sample means matched the hypothesis test</a:t>
            </a:r>
            <a:endParaRPr/>
          </a:p>
          <a:p>
            <a:pPr marL="457200" lvl="0" indent="-342900" algn="l" rtl="0">
              <a:spcBef>
                <a:spcPts val="0"/>
              </a:spcBef>
              <a:spcAft>
                <a:spcPts val="0"/>
              </a:spcAft>
              <a:buSzPts val="1800"/>
              <a:buChar char="●"/>
            </a:pPr>
            <a:r>
              <a:rPr lang="en"/>
              <a:t>Also tested a response variable vector consisting of (pulse rate, SBP, DBP, glucose) with different means and a vector of (pulse rate, SBP, DBP, glucose, age) </a:t>
            </a:r>
            <a:endParaRPr/>
          </a:p>
          <a:p>
            <a:pPr marL="457200" lvl="0" indent="-342900" algn="l" rtl="0">
              <a:spcBef>
                <a:spcPts val="0"/>
              </a:spcBef>
              <a:spcAft>
                <a:spcPts val="0"/>
              </a:spcAft>
              <a:buSzPts val="1800"/>
              <a:buChar char="●"/>
            </a:pPr>
            <a:r>
              <a:rPr lang="en"/>
              <a:t>i.e. H</a:t>
            </a:r>
            <a:r>
              <a:rPr lang="en" baseline="-25000"/>
              <a:t>0</a:t>
            </a:r>
            <a:r>
              <a:rPr lang="en"/>
              <a:t>: μ</a:t>
            </a:r>
            <a:r>
              <a:rPr lang="en" baseline="-25000"/>
              <a:t>0</a:t>
            </a:r>
            <a:r>
              <a:rPr lang="en"/>
              <a:t> = 6, 2, 5, 1, 45, H</a:t>
            </a:r>
            <a:r>
              <a:rPr lang="en" baseline="-25000"/>
              <a:t>1</a:t>
            </a:r>
            <a:r>
              <a:rPr lang="en"/>
              <a:t>: μ</a:t>
            </a:r>
            <a:r>
              <a:rPr lang="en" baseline="-25000"/>
              <a:t>0</a:t>
            </a:r>
            <a:r>
              <a:rPr lang="en"/>
              <a:t> ≠ 6, 2, 5, 1, 45</a:t>
            </a:r>
            <a:endParaRPr/>
          </a:p>
          <a:p>
            <a:pPr marL="914400" lvl="1" indent="-317500" algn="l" rtl="0">
              <a:spcBef>
                <a:spcPts val="0"/>
              </a:spcBef>
              <a:spcAft>
                <a:spcPts val="0"/>
              </a:spcAft>
              <a:buSzPts val="1400"/>
              <a:buChar char="○"/>
            </a:pPr>
            <a:r>
              <a:rPr lang="en"/>
              <a:t>Conclusion: Reject the null hypothesis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graphicFrame>
        <p:nvGraphicFramePr>
          <p:cNvPr id="139" name="Google Shape;139;p26"/>
          <p:cNvGraphicFramePr/>
          <p:nvPr/>
        </p:nvGraphicFramePr>
        <p:xfrm>
          <a:off x="448088" y="705750"/>
          <a:ext cx="8247825" cy="3943565"/>
        </p:xfrm>
        <a:graphic>
          <a:graphicData uri="http://schemas.openxmlformats.org/drawingml/2006/table">
            <a:tbl>
              <a:tblPr>
                <a:noFill/>
                <a:tableStyleId>{ADC5F4CB-E676-488F-BFCB-5E0939934A82}</a:tableStyleId>
              </a:tblPr>
              <a:tblGrid>
                <a:gridCol w="2749275">
                  <a:extLst>
                    <a:ext uri="{9D8B030D-6E8A-4147-A177-3AD203B41FA5}">
                      <a16:colId xmlns:a16="http://schemas.microsoft.com/office/drawing/2014/main" val="20000"/>
                    </a:ext>
                  </a:extLst>
                </a:gridCol>
                <a:gridCol w="2749275">
                  <a:extLst>
                    <a:ext uri="{9D8B030D-6E8A-4147-A177-3AD203B41FA5}">
                      <a16:colId xmlns:a16="http://schemas.microsoft.com/office/drawing/2014/main" val="20001"/>
                    </a:ext>
                  </a:extLst>
                </a:gridCol>
                <a:gridCol w="2749275">
                  <a:extLst>
                    <a:ext uri="{9D8B030D-6E8A-4147-A177-3AD203B41FA5}">
                      <a16:colId xmlns:a16="http://schemas.microsoft.com/office/drawing/2014/main" val="20002"/>
                    </a:ext>
                  </a:extLst>
                </a:gridCol>
              </a:tblGrid>
              <a:tr h="917775">
                <a:tc>
                  <a:txBody>
                    <a:bodyPr/>
                    <a:lstStyle/>
                    <a:p>
                      <a:pPr marL="0" lvl="0" indent="0" algn="l" rtl="0">
                        <a:spcBef>
                          <a:spcPts val="0"/>
                        </a:spcBef>
                        <a:spcAft>
                          <a:spcPts val="0"/>
                        </a:spcAft>
                        <a:buNone/>
                      </a:pPr>
                      <a:r>
                        <a:rPr lang="en" sz="1800" b="1"/>
                        <a:t>Variable</a:t>
                      </a:r>
                      <a:endParaRPr sz="1800" b="1"/>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800" b="1">
                          <a:solidFill>
                            <a:schemeClr val="dk1"/>
                          </a:solidFill>
                          <a:highlight>
                            <a:srgbClr val="FFFFFF"/>
                          </a:highlight>
                        </a:rPr>
                        <a:t>T</a:t>
                      </a:r>
                      <a:r>
                        <a:rPr lang="en" sz="1800" b="1" baseline="30000">
                          <a:solidFill>
                            <a:schemeClr val="dk1"/>
                          </a:solidFill>
                          <a:highlight>
                            <a:srgbClr val="FFFFFF"/>
                          </a:highlight>
                        </a:rPr>
                        <a:t>2</a:t>
                      </a:r>
                      <a:r>
                        <a:rPr lang="en" sz="1800" b="1">
                          <a:solidFill>
                            <a:schemeClr val="dk1"/>
                          </a:solidFill>
                          <a:highlight>
                            <a:srgbClr val="FFFFFF"/>
                          </a:highlight>
                        </a:rPr>
                        <a:t> Confidence Intervals:</a:t>
                      </a:r>
                      <a:endParaRPr sz="1800" b="1"/>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800" b="1">
                          <a:solidFill>
                            <a:schemeClr val="dk1"/>
                          </a:solidFill>
                          <a:highlight>
                            <a:srgbClr val="FFFFFF"/>
                          </a:highlight>
                        </a:rPr>
                        <a:t>Bonferroni-Corrected Confidence Intervals:</a:t>
                      </a:r>
                      <a:endParaRPr sz="1800" b="1"/>
                    </a:p>
                  </a:txBody>
                  <a:tcPr marL="91425" marR="91425" marT="91425" marB="91425"/>
                </a:tc>
                <a:extLst>
                  <a:ext uri="{0D108BD9-81ED-4DB2-BD59-A6C34878D82A}">
                    <a16:rowId xmlns:a16="http://schemas.microsoft.com/office/drawing/2014/main" val="10000"/>
                  </a:ext>
                </a:extLst>
              </a:tr>
              <a:tr h="519925">
                <a:tc>
                  <a:txBody>
                    <a:bodyPr/>
                    <a:lstStyle/>
                    <a:p>
                      <a:pPr marL="0" lvl="0" indent="0" algn="l" rtl="0">
                        <a:spcBef>
                          <a:spcPts val="0"/>
                        </a:spcBef>
                        <a:spcAft>
                          <a:spcPts val="0"/>
                        </a:spcAft>
                        <a:buNone/>
                      </a:pPr>
                      <a:r>
                        <a:rPr lang="en" sz="1800" b="1"/>
                        <a:t>Transformed Pulse Rate</a:t>
                      </a:r>
                      <a:endParaRPr sz="1800" b="1"/>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[6.325, 6.355]</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[6.328, 6.351]</a:t>
                      </a:r>
                      <a:endParaRPr sz="1800"/>
                    </a:p>
                  </a:txBody>
                  <a:tcPr marL="91425" marR="91425" marT="91425" marB="91425"/>
                </a:tc>
                <a:extLst>
                  <a:ext uri="{0D108BD9-81ED-4DB2-BD59-A6C34878D82A}">
                    <a16:rowId xmlns:a16="http://schemas.microsoft.com/office/drawing/2014/main" val="10001"/>
                  </a:ext>
                </a:extLst>
              </a:tr>
              <a:tr h="573575">
                <a:tc>
                  <a:txBody>
                    <a:bodyPr/>
                    <a:lstStyle/>
                    <a:p>
                      <a:pPr marL="0" lvl="0" indent="0" algn="l" rtl="0">
                        <a:spcBef>
                          <a:spcPts val="0"/>
                        </a:spcBef>
                        <a:spcAft>
                          <a:spcPts val="0"/>
                        </a:spcAft>
                        <a:buNone/>
                      </a:pPr>
                      <a:r>
                        <a:rPr lang="en" sz="1800" b="1"/>
                        <a:t>Transformed SBP</a:t>
                      </a:r>
                      <a:endParaRPr sz="1800" b="1"/>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[1.601, 1.601]</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[1.601, 1.601]</a:t>
                      </a:r>
                      <a:endParaRPr sz="1800"/>
                    </a:p>
                  </a:txBody>
                  <a:tcPr marL="91425" marR="91425" marT="91425" marB="91425"/>
                </a:tc>
                <a:extLst>
                  <a:ext uri="{0D108BD9-81ED-4DB2-BD59-A6C34878D82A}">
                    <a16:rowId xmlns:a16="http://schemas.microsoft.com/office/drawing/2014/main" val="10002"/>
                  </a:ext>
                </a:extLst>
              </a:tr>
              <a:tr h="573575">
                <a:tc>
                  <a:txBody>
                    <a:bodyPr/>
                    <a:lstStyle/>
                    <a:p>
                      <a:pPr marL="0" lvl="0" indent="0" algn="l" rtl="0">
                        <a:spcBef>
                          <a:spcPts val="0"/>
                        </a:spcBef>
                        <a:spcAft>
                          <a:spcPts val="0"/>
                        </a:spcAft>
                        <a:buNone/>
                      </a:pPr>
                      <a:r>
                        <a:rPr lang="en" sz="1800" b="1"/>
                        <a:t>Transformed DBP</a:t>
                      </a:r>
                      <a:endParaRPr sz="1800" b="1"/>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[4.679, 4.695]</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[4.681, 4.693]</a:t>
                      </a:r>
                      <a:endParaRPr sz="1800"/>
                    </a:p>
                  </a:txBody>
                  <a:tcPr marL="91425" marR="91425" marT="91425" marB="91425"/>
                </a:tc>
                <a:extLst>
                  <a:ext uri="{0D108BD9-81ED-4DB2-BD59-A6C34878D82A}">
                    <a16:rowId xmlns:a16="http://schemas.microsoft.com/office/drawing/2014/main" val="10003"/>
                  </a:ext>
                </a:extLst>
              </a:tr>
              <a:tr h="573575">
                <a:tc>
                  <a:txBody>
                    <a:bodyPr/>
                    <a:lstStyle/>
                    <a:p>
                      <a:pPr marL="0" lvl="0" indent="0" algn="l" rtl="0">
                        <a:spcBef>
                          <a:spcPts val="0"/>
                        </a:spcBef>
                        <a:spcAft>
                          <a:spcPts val="0"/>
                        </a:spcAft>
                        <a:buNone/>
                      </a:pPr>
                      <a:r>
                        <a:rPr lang="en" sz="1800" b="1"/>
                        <a:t>Transformed Glucose</a:t>
                      </a:r>
                      <a:endParaRPr sz="1800" b="1"/>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[1.173, 1.80]</a:t>
                      </a:r>
                      <a:endParaRPr sz="18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[1.174, 1.179] </a:t>
                      </a:r>
                      <a:endParaRPr sz="1800"/>
                    </a:p>
                  </a:txBody>
                  <a:tcPr marL="91425" marR="91425" marT="91425" marB="91425"/>
                </a:tc>
                <a:extLst>
                  <a:ext uri="{0D108BD9-81ED-4DB2-BD59-A6C34878D82A}">
                    <a16:rowId xmlns:a16="http://schemas.microsoft.com/office/drawing/2014/main" val="10004"/>
                  </a:ext>
                </a:extLst>
              </a:tr>
              <a:tr h="573575">
                <a:tc>
                  <a:txBody>
                    <a:bodyPr/>
                    <a:lstStyle/>
                    <a:p>
                      <a:pPr marL="0" lvl="0" indent="0" algn="l" rtl="0">
                        <a:spcBef>
                          <a:spcPts val="0"/>
                        </a:spcBef>
                        <a:spcAft>
                          <a:spcPts val="0"/>
                        </a:spcAft>
                        <a:buNone/>
                      </a:pPr>
                      <a:r>
                        <a:rPr lang="en" sz="1800" b="1"/>
                        <a:t>Age</a:t>
                      </a:r>
                      <a:endParaRPr sz="1800" b="1"/>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800">
                          <a:solidFill>
                            <a:schemeClr val="dk1"/>
                          </a:solidFill>
                          <a:highlight>
                            <a:srgbClr val="FFFFFF"/>
                          </a:highlight>
                        </a:rPr>
                        <a:t>[44.665, 45.990]</a:t>
                      </a:r>
                      <a:endParaRPr sz="1800"/>
                    </a:p>
                  </a:txBody>
                  <a:tcPr marL="91425" marR="91425" marT="91425" marB="91425"/>
                </a:tc>
                <a:tc>
                  <a:txBody>
                    <a:bodyPr/>
                    <a:lstStyle/>
                    <a:p>
                      <a:pPr marL="0" lvl="0" indent="0" algn="ctr" rtl="0">
                        <a:lnSpc>
                          <a:spcPct val="120000"/>
                        </a:lnSpc>
                        <a:spcBef>
                          <a:spcPts val="0"/>
                        </a:spcBef>
                        <a:spcAft>
                          <a:spcPts val="0"/>
                        </a:spcAft>
                        <a:buClr>
                          <a:schemeClr val="dk1"/>
                        </a:buClr>
                        <a:buSzPts val="1100"/>
                        <a:buFont typeface="Arial"/>
                        <a:buNone/>
                      </a:pPr>
                      <a:r>
                        <a:rPr lang="en" sz="1800">
                          <a:solidFill>
                            <a:schemeClr val="dk1"/>
                          </a:solidFill>
                          <a:highlight>
                            <a:srgbClr val="FFFFFF"/>
                          </a:highlight>
                        </a:rPr>
                        <a:t>[44.815, 45.840]</a:t>
                      </a:r>
                      <a:endParaRPr sz="1800"/>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One-Way MANOVA</a:t>
            </a:r>
            <a:endParaRPr/>
          </a:p>
        </p:txBody>
      </p:sp>
      <p:sp>
        <p:nvSpPr>
          <p:cNvPr id="145" name="Google Shape;145;p2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Response Variables vs BMI Categories</a:t>
            </a:r>
            <a:endParaRPr/>
          </a:p>
          <a:p>
            <a:pPr marL="914400" lvl="1" indent="-317500" algn="l" rtl="0">
              <a:spcBef>
                <a:spcPts val="0"/>
              </a:spcBef>
              <a:spcAft>
                <a:spcPts val="0"/>
              </a:spcAft>
              <a:buSzPts val="1400"/>
              <a:buChar char="○"/>
            </a:pPr>
            <a:r>
              <a:rPr lang="en"/>
              <a:t>Conclusion: Reject the null hypothesis. </a:t>
            </a:r>
            <a:endParaRPr/>
          </a:p>
          <a:p>
            <a:pPr marL="457200" lvl="0" indent="-342900" algn="l" rtl="0">
              <a:spcBef>
                <a:spcPts val="0"/>
              </a:spcBef>
              <a:spcAft>
                <a:spcPts val="0"/>
              </a:spcAft>
              <a:buSzPts val="1800"/>
              <a:buChar char="●"/>
            </a:pPr>
            <a:r>
              <a:rPr lang="en"/>
              <a:t>Response Variables vs Gender Categories</a:t>
            </a:r>
            <a:endParaRPr/>
          </a:p>
          <a:p>
            <a:pPr marL="914400" lvl="1" indent="-317500" algn="l" rtl="0">
              <a:spcBef>
                <a:spcPts val="0"/>
              </a:spcBef>
              <a:spcAft>
                <a:spcPts val="0"/>
              </a:spcAft>
              <a:buSzPts val="1400"/>
              <a:buChar char="○"/>
            </a:pPr>
            <a:r>
              <a:rPr lang="en"/>
              <a:t>Conclusion: Reject the null hypothesis. </a:t>
            </a:r>
            <a:endParaRPr/>
          </a:p>
          <a:p>
            <a:pPr marL="457200" lvl="0" indent="-342900" algn="l" rtl="0">
              <a:spcBef>
                <a:spcPts val="0"/>
              </a:spcBef>
              <a:spcAft>
                <a:spcPts val="0"/>
              </a:spcAft>
              <a:buSzPts val="1800"/>
              <a:buChar char="●"/>
            </a:pPr>
            <a:r>
              <a:rPr lang="en"/>
              <a:t>Response Variables vs Hypertension Categories</a:t>
            </a:r>
            <a:endParaRPr/>
          </a:p>
          <a:p>
            <a:pPr marL="914400" lvl="1" indent="-317500" algn="l" rtl="0">
              <a:spcBef>
                <a:spcPts val="0"/>
              </a:spcBef>
              <a:spcAft>
                <a:spcPts val="0"/>
              </a:spcAft>
              <a:buSzPts val="1400"/>
              <a:buChar char="○"/>
            </a:pPr>
            <a:r>
              <a:rPr lang="en"/>
              <a:t>Conclusion: Reject the null hypothesis.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311700" y="260300"/>
            <a:ext cx="8520600" cy="5727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a:t>One-Way MANOVA CIs for BMI Categories</a:t>
            </a:r>
            <a:endParaRPr/>
          </a:p>
        </p:txBody>
      </p:sp>
      <p:graphicFrame>
        <p:nvGraphicFramePr>
          <p:cNvPr id="151" name="Google Shape;151;p28"/>
          <p:cNvGraphicFramePr/>
          <p:nvPr/>
        </p:nvGraphicFramePr>
        <p:xfrm>
          <a:off x="483825" y="916450"/>
          <a:ext cx="8443875" cy="4119050"/>
        </p:xfrm>
        <a:graphic>
          <a:graphicData uri="http://schemas.openxmlformats.org/drawingml/2006/table">
            <a:tbl>
              <a:tblPr>
                <a:noFill/>
                <a:tableStyleId>{ADC5F4CB-E676-488F-BFCB-5E0939934A82}</a:tableStyleId>
              </a:tblPr>
              <a:tblGrid>
                <a:gridCol w="1576150">
                  <a:extLst>
                    <a:ext uri="{9D8B030D-6E8A-4147-A177-3AD203B41FA5}">
                      <a16:colId xmlns:a16="http://schemas.microsoft.com/office/drawing/2014/main" val="20000"/>
                    </a:ext>
                  </a:extLst>
                </a:gridCol>
                <a:gridCol w="1854675">
                  <a:extLst>
                    <a:ext uri="{9D8B030D-6E8A-4147-A177-3AD203B41FA5}">
                      <a16:colId xmlns:a16="http://schemas.microsoft.com/office/drawing/2014/main" val="20001"/>
                    </a:ext>
                  </a:extLst>
                </a:gridCol>
                <a:gridCol w="1709425">
                  <a:extLst>
                    <a:ext uri="{9D8B030D-6E8A-4147-A177-3AD203B41FA5}">
                      <a16:colId xmlns:a16="http://schemas.microsoft.com/office/drawing/2014/main" val="20002"/>
                    </a:ext>
                  </a:extLst>
                </a:gridCol>
                <a:gridCol w="1635725">
                  <a:extLst>
                    <a:ext uri="{9D8B030D-6E8A-4147-A177-3AD203B41FA5}">
                      <a16:colId xmlns:a16="http://schemas.microsoft.com/office/drawing/2014/main" val="20003"/>
                    </a:ext>
                  </a:extLst>
                </a:gridCol>
                <a:gridCol w="1667900">
                  <a:extLst>
                    <a:ext uri="{9D8B030D-6E8A-4147-A177-3AD203B41FA5}">
                      <a16:colId xmlns:a16="http://schemas.microsoft.com/office/drawing/2014/main" val="20004"/>
                    </a:ext>
                  </a:extLst>
                </a:gridCol>
              </a:tblGrid>
              <a:tr h="358875">
                <a:tc>
                  <a:txBody>
                    <a:bodyPr/>
                    <a:lstStyle/>
                    <a:p>
                      <a:pPr marL="0" marR="0" lvl="0" indent="0" algn="l" rtl="0">
                        <a:spcBef>
                          <a:spcPts val="0"/>
                        </a:spcBef>
                        <a:spcAft>
                          <a:spcPts val="0"/>
                        </a:spcAft>
                        <a:buNone/>
                      </a:pP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b="1"/>
                        <a:t>Pulse Rate</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Systolic BP</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Diastolic BP</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Glucose</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95550">
                <a:tc>
                  <a:txBody>
                    <a:bodyPr/>
                    <a:lstStyle/>
                    <a:p>
                      <a:pPr marL="0" lvl="0" indent="0" algn="l" rtl="0">
                        <a:spcBef>
                          <a:spcPts val="0"/>
                        </a:spcBef>
                        <a:spcAft>
                          <a:spcPts val="0"/>
                        </a:spcAft>
                        <a:buNone/>
                      </a:pPr>
                      <a:r>
                        <a:rPr lang="en" b="1"/>
                        <a:t>Healthy vs Obese</a:t>
                      </a:r>
                      <a:endParaRPr b="1"/>
                    </a:p>
                  </a:txBody>
                  <a:tcPr marL="91425" marR="91425" marT="91425" marB="91425"/>
                </a:tc>
                <a:tc>
                  <a:txBody>
                    <a:bodyPr/>
                    <a:lstStyle/>
                    <a:p>
                      <a:pPr marL="0" lvl="0" indent="0" algn="l" rtl="0">
                        <a:spcBef>
                          <a:spcPts val="0"/>
                        </a:spcBef>
                        <a:spcAft>
                          <a:spcPts val="0"/>
                        </a:spcAft>
                        <a:buNone/>
                      </a:pPr>
                      <a:r>
                        <a:rPr lang="en"/>
                        <a:t>(-0.1203, 0.0379)</a:t>
                      </a: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a:solidFill>
                            <a:srgbClr val="0000FF"/>
                          </a:solidFill>
                        </a:rPr>
                        <a:t>(-0.0066, -0.0023)</a:t>
                      </a:r>
                      <a:endParaRPr>
                        <a:solidFill>
                          <a:srgbClr val="0000FF"/>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a:solidFill>
                            <a:srgbClr val="0000FF"/>
                          </a:solidFill>
                        </a:rPr>
                        <a:t>(-0.1533, -0.0709)</a:t>
                      </a:r>
                      <a:endParaRPr>
                        <a:solidFill>
                          <a:srgbClr val="0000FF"/>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a:t>(-0.0173, 0.0185)</a:t>
                      </a:r>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615800">
                <a:tc>
                  <a:txBody>
                    <a:bodyPr/>
                    <a:lstStyle/>
                    <a:p>
                      <a:pPr marL="0" lvl="0" indent="0" algn="l" rtl="0">
                        <a:spcBef>
                          <a:spcPts val="0"/>
                        </a:spcBef>
                        <a:spcAft>
                          <a:spcPts val="0"/>
                        </a:spcAft>
                        <a:buNone/>
                      </a:pPr>
                      <a:r>
                        <a:rPr lang="en" b="1"/>
                        <a:t>Healthy vs Overweight</a:t>
                      </a:r>
                      <a:endParaRPr b="1"/>
                    </a:p>
                  </a:txBody>
                  <a:tcPr marL="91425" marR="91425" marT="91425" marB="91425"/>
                </a:tc>
                <a:tc>
                  <a:txBody>
                    <a:bodyPr/>
                    <a:lstStyle/>
                    <a:p>
                      <a:pPr marL="0" lvl="0" indent="0" algn="l" rtl="0">
                        <a:spcBef>
                          <a:spcPts val="0"/>
                        </a:spcBef>
                        <a:spcAft>
                          <a:spcPts val="0"/>
                        </a:spcAft>
                        <a:buNone/>
                      </a:pPr>
                      <a:r>
                        <a:rPr lang="en"/>
                        <a:t>(-0.0822, 0.0064)</a:t>
                      </a:r>
                      <a:endParaRPr/>
                    </a:p>
                  </a:txBody>
                  <a:tcPr marL="91425" marR="91425" marT="91425" marB="91425"/>
                </a:tc>
                <a:tc>
                  <a:txBody>
                    <a:bodyPr/>
                    <a:lstStyle/>
                    <a:p>
                      <a:pPr marL="0" lvl="0" indent="0" algn="l" rtl="0">
                        <a:spcBef>
                          <a:spcPts val="0"/>
                        </a:spcBef>
                        <a:spcAft>
                          <a:spcPts val="0"/>
                        </a:spcAft>
                        <a:buNone/>
                      </a:pPr>
                      <a:r>
                        <a:rPr lang="en">
                          <a:solidFill>
                            <a:srgbClr val="0000FF"/>
                          </a:solidFill>
                        </a:rPr>
                        <a:t>(-0.0035, -0.0011)</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(-0.0910, -0.0448)</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(-0.0179, 0.0022)</a:t>
                      </a:r>
                      <a:endParaRPr/>
                    </a:p>
                  </a:txBody>
                  <a:tcPr marL="91425" marR="91425" marT="91425" marB="91425"/>
                </a:tc>
                <a:extLst>
                  <a:ext uri="{0D108BD9-81ED-4DB2-BD59-A6C34878D82A}">
                    <a16:rowId xmlns:a16="http://schemas.microsoft.com/office/drawing/2014/main" val="10002"/>
                  </a:ext>
                </a:extLst>
              </a:tr>
              <a:tr h="646175">
                <a:tc>
                  <a:txBody>
                    <a:bodyPr/>
                    <a:lstStyle/>
                    <a:p>
                      <a:pPr marL="0" lvl="0" indent="0" algn="l" rtl="0">
                        <a:spcBef>
                          <a:spcPts val="0"/>
                        </a:spcBef>
                        <a:spcAft>
                          <a:spcPts val="0"/>
                        </a:spcAft>
                        <a:buNone/>
                      </a:pPr>
                      <a:r>
                        <a:rPr lang="en" b="1"/>
                        <a:t>Healthy vs Underweight</a:t>
                      </a:r>
                      <a:endParaRPr b="1"/>
                    </a:p>
                  </a:txBody>
                  <a:tcPr marL="91425" marR="91425" marT="91425" marB="91425"/>
                </a:tc>
                <a:tc>
                  <a:txBody>
                    <a:bodyPr/>
                    <a:lstStyle/>
                    <a:p>
                      <a:pPr marL="0" lvl="0" indent="0" algn="l" rtl="0">
                        <a:spcBef>
                          <a:spcPts val="0"/>
                        </a:spcBef>
                        <a:spcAft>
                          <a:spcPts val="0"/>
                        </a:spcAft>
                        <a:buNone/>
                      </a:pPr>
                      <a:r>
                        <a:rPr lang="en"/>
                        <a:t>(-0.0549, 0.0387)</a:t>
                      </a:r>
                      <a:endParaRPr/>
                    </a:p>
                  </a:txBody>
                  <a:tcPr marL="91425" marR="91425" marT="91425" marB="91425"/>
                </a:tc>
                <a:tc>
                  <a:txBody>
                    <a:bodyPr/>
                    <a:lstStyle/>
                    <a:p>
                      <a:pPr marL="0" lvl="0" indent="0" algn="l" rtl="0">
                        <a:spcBef>
                          <a:spcPts val="0"/>
                        </a:spcBef>
                        <a:spcAft>
                          <a:spcPts val="0"/>
                        </a:spcAft>
                        <a:buNone/>
                      </a:pPr>
                      <a:r>
                        <a:rPr lang="en"/>
                        <a:t>(-0.0006, 0.0020)</a:t>
                      </a:r>
                      <a:endParaRPr/>
                    </a:p>
                  </a:txBody>
                  <a:tcPr marL="91425" marR="91425" marT="91425" marB="91425"/>
                </a:tc>
                <a:tc>
                  <a:txBody>
                    <a:bodyPr/>
                    <a:lstStyle/>
                    <a:p>
                      <a:pPr marL="0" lvl="0" indent="0" algn="l" rtl="0">
                        <a:spcBef>
                          <a:spcPts val="0"/>
                        </a:spcBef>
                        <a:spcAft>
                          <a:spcPts val="0"/>
                        </a:spcAft>
                        <a:buNone/>
                      </a:pPr>
                      <a:r>
                        <a:rPr lang="en">
                          <a:solidFill>
                            <a:srgbClr val="0000FF"/>
                          </a:solidFill>
                        </a:rPr>
                        <a:t>(0.0122, 0.0610)</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(-0.0103, 0.0108)</a:t>
                      </a:r>
                      <a:endParaRPr/>
                    </a:p>
                  </a:txBody>
                  <a:tcPr marL="91425" marR="91425" marT="91425" marB="91425"/>
                </a:tc>
                <a:extLst>
                  <a:ext uri="{0D108BD9-81ED-4DB2-BD59-A6C34878D82A}">
                    <a16:rowId xmlns:a16="http://schemas.microsoft.com/office/drawing/2014/main" val="10003"/>
                  </a:ext>
                </a:extLst>
              </a:tr>
              <a:tr h="595550">
                <a:tc>
                  <a:txBody>
                    <a:bodyPr/>
                    <a:lstStyle/>
                    <a:p>
                      <a:pPr marL="0" lvl="0" indent="0" algn="l" rtl="0">
                        <a:spcBef>
                          <a:spcPts val="0"/>
                        </a:spcBef>
                        <a:spcAft>
                          <a:spcPts val="0"/>
                        </a:spcAft>
                        <a:buNone/>
                      </a:pPr>
                      <a:r>
                        <a:rPr lang="en" b="1"/>
                        <a:t>Obese vs Overweight</a:t>
                      </a:r>
                      <a:endParaRPr b="1"/>
                    </a:p>
                  </a:txBody>
                  <a:tcPr marL="91425" marR="91425" marT="91425" marB="91425"/>
                </a:tc>
                <a:tc>
                  <a:txBody>
                    <a:bodyPr/>
                    <a:lstStyle/>
                    <a:p>
                      <a:pPr marL="0" lvl="0" indent="0" algn="l" rtl="0">
                        <a:spcBef>
                          <a:spcPts val="0"/>
                        </a:spcBef>
                        <a:spcAft>
                          <a:spcPts val="0"/>
                        </a:spcAft>
                        <a:buNone/>
                      </a:pPr>
                      <a:r>
                        <a:rPr lang="en"/>
                        <a:t>(-0.0830, 0.0894)</a:t>
                      </a:r>
                      <a:endParaRPr/>
                    </a:p>
                  </a:txBody>
                  <a:tcPr marL="91425" marR="91425" marT="91425" marB="91425"/>
                </a:tc>
                <a:tc>
                  <a:txBody>
                    <a:bodyPr/>
                    <a:lstStyle/>
                    <a:p>
                      <a:pPr marL="0" lvl="0" indent="0" algn="l" rtl="0">
                        <a:spcBef>
                          <a:spcPts val="0"/>
                        </a:spcBef>
                        <a:spcAft>
                          <a:spcPts val="0"/>
                        </a:spcAft>
                        <a:buNone/>
                      </a:pPr>
                      <a:r>
                        <a:rPr lang="en"/>
                        <a:t>(-0.0002, 0.0045)</a:t>
                      </a:r>
                      <a:endParaRPr/>
                    </a:p>
                  </a:txBody>
                  <a:tcPr marL="91425" marR="91425" marT="91425" marB="91425"/>
                </a:tc>
                <a:tc>
                  <a:txBody>
                    <a:bodyPr/>
                    <a:lstStyle/>
                    <a:p>
                      <a:pPr marL="0" lvl="0" indent="0" algn="l" rtl="0">
                        <a:spcBef>
                          <a:spcPts val="0"/>
                        </a:spcBef>
                        <a:spcAft>
                          <a:spcPts val="0"/>
                        </a:spcAft>
                        <a:buNone/>
                      </a:pPr>
                      <a:r>
                        <a:rPr lang="en"/>
                        <a:t>(-0.0007, 0.0891)</a:t>
                      </a:r>
                      <a:endParaRPr/>
                    </a:p>
                  </a:txBody>
                  <a:tcPr marL="91425" marR="91425" marT="91425" marB="91425"/>
                </a:tc>
                <a:tc>
                  <a:txBody>
                    <a:bodyPr/>
                    <a:lstStyle/>
                    <a:p>
                      <a:pPr marL="0" lvl="0" indent="0" algn="l" rtl="0">
                        <a:spcBef>
                          <a:spcPts val="0"/>
                        </a:spcBef>
                        <a:spcAft>
                          <a:spcPts val="0"/>
                        </a:spcAft>
                        <a:buNone/>
                      </a:pPr>
                      <a:r>
                        <a:rPr lang="en"/>
                        <a:t>(-0.0280, 0.0110)</a:t>
                      </a:r>
                      <a:endParaRPr/>
                    </a:p>
                  </a:txBody>
                  <a:tcPr marL="91425" marR="91425" marT="91425" marB="91425"/>
                </a:tc>
                <a:extLst>
                  <a:ext uri="{0D108BD9-81ED-4DB2-BD59-A6C34878D82A}">
                    <a16:rowId xmlns:a16="http://schemas.microsoft.com/office/drawing/2014/main" val="10004"/>
                  </a:ext>
                </a:extLst>
              </a:tr>
              <a:tr h="615800">
                <a:tc>
                  <a:txBody>
                    <a:bodyPr/>
                    <a:lstStyle/>
                    <a:p>
                      <a:pPr marL="0" lvl="0" indent="0" algn="l" rtl="0">
                        <a:spcBef>
                          <a:spcPts val="0"/>
                        </a:spcBef>
                        <a:spcAft>
                          <a:spcPts val="0"/>
                        </a:spcAft>
                        <a:buNone/>
                      </a:pPr>
                      <a:r>
                        <a:rPr lang="en" b="1"/>
                        <a:t>Obese vs Underweight</a:t>
                      </a:r>
                      <a:endParaRPr b="1"/>
                    </a:p>
                  </a:txBody>
                  <a:tcPr marL="91425" marR="91425" marT="91425" marB="91425"/>
                </a:tc>
                <a:tc>
                  <a:txBody>
                    <a:bodyPr/>
                    <a:lstStyle/>
                    <a:p>
                      <a:pPr marL="0" lvl="0" indent="0" algn="l" rtl="0">
                        <a:spcBef>
                          <a:spcPts val="0"/>
                        </a:spcBef>
                        <a:spcAft>
                          <a:spcPts val="0"/>
                        </a:spcAft>
                        <a:buNone/>
                      </a:pPr>
                      <a:r>
                        <a:rPr lang="en"/>
                        <a:t>(-0.0544, 0.1206)</a:t>
                      </a:r>
                      <a:endParaRPr/>
                    </a:p>
                  </a:txBody>
                  <a:tcPr marL="91425" marR="91425" marT="91425" marB="91425"/>
                </a:tc>
                <a:tc>
                  <a:txBody>
                    <a:bodyPr/>
                    <a:lstStyle/>
                    <a:p>
                      <a:pPr marL="0" lvl="0" indent="0" algn="l" rtl="0">
                        <a:spcBef>
                          <a:spcPts val="0"/>
                        </a:spcBef>
                        <a:spcAft>
                          <a:spcPts val="0"/>
                        </a:spcAft>
                        <a:buNone/>
                      </a:pPr>
                      <a:r>
                        <a:rPr lang="en">
                          <a:solidFill>
                            <a:srgbClr val="0000FF"/>
                          </a:solidFill>
                        </a:rPr>
                        <a:t>(0.0027, 0.0075)</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(0.1031, 0.1943)</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(-0.0202, 0.0194)</a:t>
                      </a:r>
                      <a:endParaRPr/>
                    </a:p>
                  </a:txBody>
                  <a:tcPr marL="91425" marR="91425" marT="91425" marB="91425"/>
                </a:tc>
                <a:extLst>
                  <a:ext uri="{0D108BD9-81ED-4DB2-BD59-A6C34878D82A}">
                    <a16:rowId xmlns:a16="http://schemas.microsoft.com/office/drawing/2014/main" val="10005"/>
                  </a:ext>
                </a:extLst>
              </a:tr>
              <a:tr h="625925">
                <a:tc>
                  <a:txBody>
                    <a:bodyPr/>
                    <a:lstStyle/>
                    <a:p>
                      <a:pPr marL="0" lvl="0" indent="0" algn="l" rtl="0">
                        <a:spcBef>
                          <a:spcPts val="0"/>
                        </a:spcBef>
                        <a:spcAft>
                          <a:spcPts val="0"/>
                        </a:spcAft>
                        <a:buNone/>
                      </a:pPr>
                      <a:r>
                        <a:rPr lang="en" b="1"/>
                        <a:t>Overweight vs Underweight</a:t>
                      </a:r>
                      <a:endParaRPr b="1"/>
                    </a:p>
                  </a:txBody>
                  <a:tcPr marL="91425" marR="91425" marT="91425" marB="91425"/>
                </a:tc>
                <a:tc>
                  <a:txBody>
                    <a:bodyPr/>
                    <a:lstStyle/>
                    <a:p>
                      <a:pPr marL="0" lvl="0" indent="0" algn="l" rtl="0">
                        <a:spcBef>
                          <a:spcPts val="0"/>
                        </a:spcBef>
                        <a:spcAft>
                          <a:spcPts val="0"/>
                        </a:spcAft>
                        <a:buNone/>
                      </a:pPr>
                      <a:r>
                        <a:rPr lang="en"/>
                        <a:t>(-0.0281, 0.0879)</a:t>
                      </a:r>
                      <a:endParaRPr/>
                    </a:p>
                  </a:txBody>
                  <a:tcPr marL="91425" marR="91425" marT="91425" marB="91425"/>
                </a:tc>
                <a:tc>
                  <a:txBody>
                    <a:bodyPr/>
                    <a:lstStyle/>
                    <a:p>
                      <a:pPr marL="0" lvl="0" indent="0" algn="l" rtl="0">
                        <a:spcBef>
                          <a:spcPts val="0"/>
                        </a:spcBef>
                        <a:spcAft>
                          <a:spcPts val="0"/>
                        </a:spcAft>
                        <a:buNone/>
                      </a:pPr>
                      <a:r>
                        <a:rPr lang="en">
                          <a:solidFill>
                            <a:srgbClr val="0000FF"/>
                          </a:solidFill>
                        </a:rPr>
                        <a:t>(0.0013, 0.0046)</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(0.0743, 0.1347)</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(-0.0050, 0.0212)</a:t>
                      </a:r>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Two-Way MANOVA</a:t>
            </a:r>
            <a:endParaRPr/>
          </a:p>
        </p:txBody>
      </p:sp>
      <p:sp>
        <p:nvSpPr>
          <p:cNvPr id="157" name="Google Shape;157;p2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Response Variables vs Gender + BMI Categories</a:t>
            </a:r>
            <a:endParaRPr/>
          </a:p>
          <a:p>
            <a:pPr marL="914400" lvl="1" indent="-323850" algn="l" rtl="0">
              <a:spcBef>
                <a:spcPts val="0"/>
              </a:spcBef>
              <a:spcAft>
                <a:spcPts val="0"/>
              </a:spcAft>
              <a:buSzPts val="1500"/>
              <a:buChar char="○"/>
            </a:pPr>
            <a:r>
              <a:rPr lang="en" sz="1200">
                <a:solidFill>
                  <a:schemeClr val="dk1"/>
                </a:solidFill>
              </a:rPr>
              <a:t>BMI category is a strong predictor of blood pressure levels, while gender is strong for pulse rate </a:t>
            </a:r>
            <a:endParaRPr sz="1200">
              <a:solidFill>
                <a:schemeClr val="dk1"/>
              </a:solidFill>
            </a:endParaRPr>
          </a:p>
          <a:p>
            <a:pPr marL="457200" lvl="0" indent="-342900" algn="l" rtl="0">
              <a:spcBef>
                <a:spcPts val="0"/>
              </a:spcBef>
              <a:spcAft>
                <a:spcPts val="0"/>
              </a:spcAft>
              <a:buSzPts val="1800"/>
              <a:buChar char="●"/>
            </a:pPr>
            <a:r>
              <a:rPr lang="en"/>
              <a:t>Response Variables vs Gender + Hypertensive </a:t>
            </a:r>
            <a:endParaRPr/>
          </a:p>
          <a:p>
            <a:pPr marL="914400" lvl="1" indent="-323850" algn="l" rtl="0">
              <a:spcBef>
                <a:spcPts val="0"/>
              </a:spcBef>
              <a:spcAft>
                <a:spcPts val="0"/>
              </a:spcAft>
              <a:buSzPts val="1500"/>
              <a:buChar char="○"/>
            </a:pPr>
            <a:r>
              <a:rPr lang="en" sz="1200">
                <a:solidFill>
                  <a:schemeClr val="dk1"/>
                </a:solidFill>
              </a:rPr>
              <a:t>Gender significantly affects pulse rate and diastolic blood pressure, while hypertensive is strong overall predictor</a:t>
            </a:r>
            <a:endParaRPr sz="1500"/>
          </a:p>
          <a:p>
            <a:pPr marL="457200" lvl="0" indent="-342900" algn="l" rtl="0">
              <a:spcBef>
                <a:spcPts val="0"/>
              </a:spcBef>
              <a:spcAft>
                <a:spcPts val="0"/>
              </a:spcAft>
              <a:buSzPts val="1800"/>
              <a:buChar char="●"/>
            </a:pPr>
            <a:r>
              <a:rPr lang="en"/>
              <a:t>Response Variables vs BMI Categories + Hypertensive</a:t>
            </a:r>
            <a:endParaRPr/>
          </a:p>
          <a:p>
            <a:pPr marL="914400" lvl="1" indent="-323850" algn="l" rtl="0">
              <a:spcBef>
                <a:spcPts val="0"/>
              </a:spcBef>
              <a:spcAft>
                <a:spcPts val="0"/>
              </a:spcAft>
              <a:buSzPts val="1500"/>
              <a:buChar char="○"/>
            </a:pPr>
            <a:r>
              <a:rPr lang="en" sz="1200">
                <a:solidFill>
                  <a:schemeClr val="dk1"/>
                </a:solidFill>
              </a:rPr>
              <a:t>Hypertension status is strongly associated with higher blood pressure and glucose, supporting known clinical patterns while BMI is a significant predictor, especially for blood pressure</a:t>
            </a:r>
            <a:endParaRPr sz="1500"/>
          </a:p>
          <a:p>
            <a:pPr marL="457200" lvl="0" indent="-342900" algn="l" rtl="0">
              <a:spcBef>
                <a:spcPts val="0"/>
              </a:spcBef>
              <a:spcAft>
                <a:spcPts val="0"/>
              </a:spcAft>
              <a:buSzPts val="1800"/>
              <a:buChar char="●"/>
            </a:pPr>
            <a:r>
              <a:rPr lang="en"/>
              <a:t>Response Variables vs Interaction effect of Gender*BMI</a:t>
            </a:r>
            <a:endParaRPr/>
          </a:p>
          <a:p>
            <a:pPr marL="914400" lvl="1" indent="-323850" algn="l" rtl="0">
              <a:spcBef>
                <a:spcPts val="0"/>
              </a:spcBef>
              <a:spcAft>
                <a:spcPts val="0"/>
              </a:spcAft>
              <a:buSzPts val="1500"/>
              <a:buChar char="○"/>
            </a:pPr>
            <a:r>
              <a:rPr lang="en" sz="1200">
                <a:solidFill>
                  <a:schemeClr val="dk1"/>
                </a:solidFill>
              </a:rPr>
              <a:t>There are no significant differences within gender across BMI categories</a:t>
            </a:r>
            <a:endParaRPr sz="1500"/>
          </a:p>
          <a:p>
            <a:pPr marL="457200" lvl="0" indent="-342900" algn="l" rtl="0">
              <a:spcBef>
                <a:spcPts val="0"/>
              </a:spcBef>
              <a:spcAft>
                <a:spcPts val="0"/>
              </a:spcAft>
              <a:buSzPts val="1800"/>
              <a:buChar char="●"/>
            </a:pPr>
            <a:r>
              <a:rPr lang="en"/>
              <a:t>Response Variables vs Interaction effect of Hypertensive*Gender</a:t>
            </a:r>
            <a:endParaRPr/>
          </a:p>
          <a:p>
            <a:pPr marL="914400" lvl="1" indent="-323850" algn="l" rtl="0">
              <a:spcBef>
                <a:spcPts val="0"/>
              </a:spcBef>
              <a:spcAft>
                <a:spcPts val="0"/>
              </a:spcAft>
              <a:buSzPts val="1500"/>
              <a:buChar char="○"/>
            </a:pPr>
            <a:r>
              <a:rPr lang="en" sz="1200">
                <a:solidFill>
                  <a:schemeClr val="dk1"/>
                </a:solidFill>
              </a:rPr>
              <a:t>There are no significant differences within hypertensive across BMI categories</a:t>
            </a:r>
            <a:endParaRPr sz="1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311700" y="317150"/>
            <a:ext cx="8520600" cy="5727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a:t>Two-Way MANOVA CI for BMI and Gender</a:t>
            </a:r>
            <a:endParaRPr/>
          </a:p>
        </p:txBody>
      </p:sp>
      <p:graphicFrame>
        <p:nvGraphicFramePr>
          <p:cNvPr id="163" name="Google Shape;163;p30"/>
          <p:cNvGraphicFramePr/>
          <p:nvPr/>
        </p:nvGraphicFramePr>
        <p:xfrm>
          <a:off x="178113" y="1088750"/>
          <a:ext cx="8787750" cy="3788790"/>
        </p:xfrm>
        <a:graphic>
          <a:graphicData uri="http://schemas.openxmlformats.org/drawingml/2006/table">
            <a:tbl>
              <a:tblPr>
                <a:noFill/>
                <a:tableStyleId>{ADC5F4CB-E676-488F-BFCB-5E0939934A82}</a:tableStyleId>
              </a:tblPr>
              <a:tblGrid>
                <a:gridCol w="1757550">
                  <a:extLst>
                    <a:ext uri="{9D8B030D-6E8A-4147-A177-3AD203B41FA5}">
                      <a16:colId xmlns:a16="http://schemas.microsoft.com/office/drawing/2014/main" val="20000"/>
                    </a:ext>
                  </a:extLst>
                </a:gridCol>
                <a:gridCol w="1757550">
                  <a:extLst>
                    <a:ext uri="{9D8B030D-6E8A-4147-A177-3AD203B41FA5}">
                      <a16:colId xmlns:a16="http://schemas.microsoft.com/office/drawing/2014/main" val="20001"/>
                    </a:ext>
                  </a:extLst>
                </a:gridCol>
                <a:gridCol w="1757550">
                  <a:extLst>
                    <a:ext uri="{9D8B030D-6E8A-4147-A177-3AD203B41FA5}">
                      <a16:colId xmlns:a16="http://schemas.microsoft.com/office/drawing/2014/main" val="20002"/>
                    </a:ext>
                  </a:extLst>
                </a:gridCol>
                <a:gridCol w="1757550">
                  <a:extLst>
                    <a:ext uri="{9D8B030D-6E8A-4147-A177-3AD203B41FA5}">
                      <a16:colId xmlns:a16="http://schemas.microsoft.com/office/drawing/2014/main" val="20003"/>
                    </a:ext>
                  </a:extLst>
                </a:gridCol>
                <a:gridCol w="1757550">
                  <a:extLst>
                    <a:ext uri="{9D8B030D-6E8A-4147-A177-3AD203B41FA5}">
                      <a16:colId xmlns:a16="http://schemas.microsoft.com/office/drawing/2014/main" val="20004"/>
                    </a:ext>
                  </a:extLst>
                </a:gridCol>
              </a:tblGrid>
              <a:tr h="325750">
                <a:tc>
                  <a:txBody>
                    <a:bodyPr/>
                    <a:lstStyle/>
                    <a:p>
                      <a:pPr marL="0" lvl="0" indent="0" algn="ctr" rtl="0">
                        <a:spcBef>
                          <a:spcPts val="0"/>
                        </a:spcBef>
                        <a:spcAft>
                          <a:spcPts val="0"/>
                        </a:spcAft>
                        <a:buNone/>
                      </a:pPr>
                      <a:endParaRPr b="1"/>
                    </a:p>
                  </a:txBody>
                  <a:tcPr marL="91425" marR="91425" marT="91425" marB="91425"/>
                </a:tc>
                <a:tc>
                  <a:txBody>
                    <a:bodyPr/>
                    <a:lstStyle/>
                    <a:p>
                      <a:pPr marL="0" lvl="0" indent="0" algn="ctr" rtl="0">
                        <a:spcBef>
                          <a:spcPts val="0"/>
                        </a:spcBef>
                        <a:spcAft>
                          <a:spcPts val="0"/>
                        </a:spcAft>
                        <a:buNone/>
                      </a:pPr>
                      <a:r>
                        <a:rPr lang="en" b="1"/>
                        <a:t>Pulse Rate</a:t>
                      </a:r>
                      <a:endParaRPr b="1"/>
                    </a:p>
                  </a:txBody>
                  <a:tcPr marL="91425" marR="91425" marT="91425" marB="91425"/>
                </a:tc>
                <a:tc>
                  <a:txBody>
                    <a:bodyPr/>
                    <a:lstStyle/>
                    <a:p>
                      <a:pPr marL="0" lvl="0" indent="0" algn="ctr" rtl="0">
                        <a:spcBef>
                          <a:spcPts val="0"/>
                        </a:spcBef>
                        <a:spcAft>
                          <a:spcPts val="0"/>
                        </a:spcAft>
                        <a:buNone/>
                      </a:pPr>
                      <a:r>
                        <a:rPr lang="en" b="1"/>
                        <a:t>Systolic BP</a:t>
                      </a:r>
                      <a:endParaRPr b="1"/>
                    </a:p>
                  </a:txBody>
                  <a:tcPr marL="91425" marR="91425" marT="91425" marB="91425"/>
                </a:tc>
                <a:tc>
                  <a:txBody>
                    <a:bodyPr/>
                    <a:lstStyle/>
                    <a:p>
                      <a:pPr marL="0" lvl="0" indent="0" algn="ctr" rtl="0">
                        <a:spcBef>
                          <a:spcPts val="0"/>
                        </a:spcBef>
                        <a:spcAft>
                          <a:spcPts val="0"/>
                        </a:spcAft>
                        <a:buNone/>
                      </a:pPr>
                      <a:r>
                        <a:rPr lang="en" b="1"/>
                        <a:t>Diastolic BP</a:t>
                      </a:r>
                      <a:endParaRPr b="1"/>
                    </a:p>
                  </a:txBody>
                  <a:tcPr marL="91425" marR="91425" marT="91425" marB="91425"/>
                </a:tc>
                <a:tc>
                  <a:txBody>
                    <a:bodyPr/>
                    <a:lstStyle/>
                    <a:p>
                      <a:pPr marL="0" lvl="0" indent="0" algn="ctr" rtl="0">
                        <a:spcBef>
                          <a:spcPts val="0"/>
                        </a:spcBef>
                        <a:spcAft>
                          <a:spcPts val="0"/>
                        </a:spcAft>
                        <a:buNone/>
                      </a:pPr>
                      <a:r>
                        <a:rPr lang="en" b="1"/>
                        <a:t>Glucose</a:t>
                      </a:r>
                      <a:endParaRPr b="1"/>
                    </a:p>
                  </a:txBody>
                  <a:tcPr marL="91425" marR="91425" marT="91425" marB="91425"/>
                </a:tc>
                <a:extLst>
                  <a:ext uri="{0D108BD9-81ED-4DB2-BD59-A6C34878D82A}">
                    <a16:rowId xmlns:a16="http://schemas.microsoft.com/office/drawing/2014/main" val="10000"/>
                  </a:ext>
                </a:extLst>
              </a:tr>
              <a:tr h="477150">
                <a:tc>
                  <a:txBody>
                    <a:bodyPr/>
                    <a:lstStyle/>
                    <a:p>
                      <a:pPr marL="0" lvl="0" indent="0" algn="l" rtl="0">
                        <a:spcBef>
                          <a:spcPts val="0"/>
                        </a:spcBef>
                        <a:spcAft>
                          <a:spcPts val="0"/>
                        </a:spcAft>
                        <a:buNone/>
                      </a:pPr>
                      <a:r>
                        <a:rPr lang="en" b="1"/>
                        <a:t>Healthy vs Obese</a:t>
                      </a:r>
                      <a:endParaRPr b="1"/>
                    </a:p>
                  </a:txBody>
                  <a:tcPr marL="91425" marR="91425" marT="91425" marB="91425"/>
                </a:tc>
                <a:tc>
                  <a:txBody>
                    <a:bodyPr/>
                    <a:lstStyle/>
                    <a:p>
                      <a:pPr marL="0" lvl="0" indent="0" algn="l" rtl="0">
                        <a:spcBef>
                          <a:spcPts val="0"/>
                        </a:spcBef>
                        <a:spcAft>
                          <a:spcPts val="0"/>
                        </a:spcAft>
                        <a:buNone/>
                      </a:pPr>
                      <a:r>
                        <a:rPr lang="en"/>
                        <a:t>(-0.035, 0.0217)</a:t>
                      </a:r>
                      <a:endParaRPr/>
                    </a:p>
                  </a:txBody>
                  <a:tcPr marL="91425" marR="91425" marT="91425" marB="91425"/>
                </a:tc>
                <a:tc>
                  <a:txBody>
                    <a:bodyPr/>
                    <a:lstStyle/>
                    <a:p>
                      <a:pPr marL="0" lvl="0" indent="0" algn="l" rtl="0">
                        <a:spcBef>
                          <a:spcPts val="0"/>
                        </a:spcBef>
                        <a:spcAft>
                          <a:spcPts val="0"/>
                        </a:spcAft>
                        <a:buNone/>
                      </a:pPr>
                      <a:r>
                        <a:rPr lang="en">
                          <a:solidFill>
                            <a:srgbClr val="0000FF"/>
                          </a:solidFill>
                        </a:rPr>
                        <a:t>(-0.1086, -0.0501)</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(-0.1253, -0.0709)</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(-0.0437, 0.0371)</a:t>
                      </a:r>
                      <a:endParaRPr/>
                    </a:p>
                  </a:txBody>
                  <a:tcPr marL="91425" marR="91425" marT="91425" marB="91425"/>
                </a:tc>
                <a:extLst>
                  <a:ext uri="{0D108BD9-81ED-4DB2-BD59-A6C34878D82A}">
                    <a16:rowId xmlns:a16="http://schemas.microsoft.com/office/drawing/2014/main" val="10001"/>
                  </a:ext>
                </a:extLst>
              </a:tr>
              <a:tr h="501150">
                <a:tc>
                  <a:txBody>
                    <a:bodyPr/>
                    <a:lstStyle/>
                    <a:p>
                      <a:pPr marL="0" lvl="0" indent="0" algn="l" rtl="0">
                        <a:spcBef>
                          <a:spcPts val="0"/>
                        </a:spcBef>
                        <a:spcAft>
                          <a:spcPts val="0"/>
                        </a:spcAft>
                        <a:buNone/>
                      </a:pPr>
                      <a:r>
                        <a:rPr lang="en" b="1"/>
                        <a:t>Healthy vs Overweight</a:t>
                      </a:r>
                      <a:endParaRPr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(-0.0303, 0.0014)</a:t>
                      </a:r>
                      <a:endParaRPr/>
                    </a:p>
                  </a:txBody>
                  <a:tcPr marL="91425" marR="91425" marT="91425" marB="91425"/>
                </a:tc>
                <a:tc>
                  <a:txBody>
                    <a:bodyPr/>
                    <a:lstStyle/>
                    <a:p>
                      <a:pPr marL="0" lvl="0" indent="0" algn="l" rtl="0">
                        <a:spcBef>
                          <a:spcPts val="0"/>
                        </a:spcBef>
                        <a:spcAft>
                          <a:spcPts val="0"/>
                        </a:spcAft>
                        <a:buNone/>
                      </a:pPr>
                      <a:r>
                        <a:rPr lang="en">
                          <a:solidFill>
                            <a:srgbClr val="0000FF"/>
                          </a:solidFill>
                        </a:rPr>
                        <a:t>(-0.057, -0.0243)</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(-0.0748, -0.0444)</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(-0.0474, -0.0023)</a:t>
                      </a:r>
                      <a:endParaRPr>
                        <a:solidFill>
                          <a:srgbClr val="0000FF"/>
                        </a:solidFill>
                      </a:endParaRPr>
                    </a:p>
                  </a:txBody>
                  <a:tcPr marL="91425" marR="91425" marT="91425" marB="91425"/>
                </a:tc>
                <a:extLst>
                  <a:ext uri="{0D108BD9-81ED-4DB2-BD59-A6C34878D82A}">
                    <a16:rowId xmlns:a16="http://schemas.microsoft.com/office/drawing/2014/main" val="10002"/>
                  </a:ext>
                </a:extLst>
              </a:tr>
              <a:tr h="501150">
                <a:tc>
                  <a:txBody>
                    <a:bodyPr/>
                    <a:lstStyle/>
                    <a:p>
                      <a:pPr marL="0" lvl="0" indent="0" algn="l" rtl="0">
                        <a:spcBef>
                          <a:spcPts val="0"/>
                        </a:spcBef>
                        <a:spcAft>
                          <a:spcPts val="0"/>
                        </a:spcAft>
                        <a:buNone/>
                      </a:pPr>
                      <a:r>
                        <a:rPr lang="en" b="1">
                          <a:solidFill>
                            <a:schemeClr val="dk1"/>
                          </a:solidFill>
                        </a:rPr>
                        <a:t>Healthy vs Underweight</a:t>
                      </a:r>
                      <a:endParaRPr b="1"/>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(-0.0225, 0.011)</a:t>
                      </a:r>
                      <a:endParaRPr/>
                    </a:p>
                  </a:txBody>
                  <a:tcPr marL="91425" marR="91425" marT="91425" marB="91425"/>
                </a:tc>
                <a:tc>
                  <a:txBody>
                    <a:bodyPr/>
                    <a:lstStyle/>
                    <a:p>
                      <a:pPr marL="0" lvl="0" indent="0" algn="l" rtl="0">
                        <a:spcBef>
                          <a:spcPts val="0"/>
                        </a:spcBef>
                        <a:spcAft>
                          <a:spcPts val="0"/>
                        </a:spcAft>
                        <a:buNone/>
                      </a:pPr>
                      <a:r>
                        <a:rPr lang="en"/>
                        <a:t>(-0.007, 0.0275)</a:t>
                      </a:r>
                      <a:endParaRPr/>
                    </a:p>
                  </a:txBody>
                  <a:tcPr marL="91425" marR="91425" marT="91425" marB="91425"/>
                </a:tc>
                <a:tc>
                  <a:txBody>
                    <a:bodyPr/>
                    <a:lstStyle/>
                    <a:p>
                      <a:pPr marL="0" lvl="0" indent="0" algn="l" rtl="0">
                        <a:spcBef>
                          <a:spcPts val="0"/>
                        </a:spcBef>
                        <a:spcAft>
                          <a:spcPts val="0"/>
                        </a:spcAft>
                        <a:buNone/>
                      </a:pPr>
                      <a:r>
                        <a:rPr lang="en">
                          <a:solidFill>
                            <a:srgbClr val="0000FF"/>
                          </a:solidFill>
                        </a:rPr>
                        <a:t>(0.0162, 0.0482)</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(-0.023, 0.0245)</a:t>
                      </a:r>
                      <a:endParaRPr/>
                    </a:p>
                  </a:txBody>
                  <a:tcPr marL="91425" marR="91425" marT="91425" marB="91425"/>
                </a:tc>
                <a:extLst>
                  <a:ext uri="{0D108BD9-81ED-4DB2-BD59-A6C34878D82A}">
                    <a16:rowId xmlns:a16="http://schemas.microsoft.com/office/drawing/2014/main" val="10003"/>
                  </a:ext>
                </a:extLst>
              </a:tr>
              <a:tr h="501150">
                <a:tc>
                  <a:txBody>
                    <a:bodyPr/>
                    <a:lstStyle/>
                    <a:p>
                      <a:pPr marL="0" lvl="0" indent="0" algn="l" rtl="0">
                        <a:spcBef>
                          <a:spcPts val="0"/>
                        </a:spcBef>
                        <a:spcAft>
                          <a:spcPts val="0"/>
                        </a:spcAft>
                        <a:buNone/>
                      </a:pPr>
                      <a:r>
                        <a:rPr lang="en" b="1"/>
                        <a:t>Obese vs Overweight</a:t>
                      </a:r>
                      <a:endParaRPr b="1"/>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(-0.0387, 0.023)</a:t>
                      </a:r>
                      <a:endParaRPr/>
                    </a:p>
                  </a:txBody>
                  <a:tcPr marL="91425" marR="91425" marT="91425" marB="91425"/>
                </a:tc>
                <a:tc>
                  <a:txBody>
                    <a:bodyPr/>
                    <a:lstStyle/>
                    <a:p>
                      <a:pPr marL="0" lvl="0" indent="0" algn="l" rtl="0">
                        <a:spcBef>
                          <a:spcPts val="0"/>
                        </a:spcBef>
                        <a:spcAft>
                          <a:spcPts val="0"/>
                        </a:spcAft>
                        <a:buNone/>
                      </a:pPr>
                      <a:r>
                        <a:rPr lang="en">
                          <a:solidFill>
                            <a:srgbClr val="0000FF"/>
                          </a:solidFill>
                        </a:rPr>
                        <a:t>(0.007, 0.0705)</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(0.0089, 0.0681)</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(-0.0654, 0.0224)</a:t>
                      </a:r>
                      <a:endParaRPr/>
                    </a:p>
                  </a:txBody>
                  <a:tcPr marL="91425" marR="91425" marT="91425" marB="91425"/>
                </a:tc>
                <a:extLst>
                  <a:ext uri="{0D108BD9-81ED-4DB2-BD59-A6C34878D82A}">
                    <a16:rowId xmlns:a16="http://schemas.microsoft.com/office/drawing/2014/main" val="10004"/>
                  </a:ext>
                </a:extLst>
              </a:tr>
              <a:tr h="501150">
                <a:tc>
                  <a:txBody>
                    <a:bodyPr/>
                    <a:lstStyle/>
                    <a:p>
                      <a:pPr marL="0" lvl="0" indent="0" algn="l" rtl="0">
                        <a:spcBef>
                          <a:spcPts val="0"/>
                        </a:spcBef>
                        <a:spcAft>
                          <a:spcPts val="0"/>
                        </a:spcAft>
                        <a:buNone/>
                      </a:pPr>
                      <a:r>
                        <a:rPr lang="en" b="1">
                          <a:solidFill>
                            <a:schemeClr val="dk1"/>
                          </a:solidFill>
                        </a:rPr>
                        <a:t>Obese vs Underweight</a:t>
                      </a:r>
                      <a:endParaRPr b="1">
                        <a:solidFill>
                          <a:schemeClr val="dk1"/>
                        </a:solidFill>
                      </a:endParaRPr>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rPr>
                        <a:t>(-0.0305, 0.0322)</a:t>
                      </a:r>
                      <a:endParaRPr>
                        <a:solidFill>
                          <a:schemeClr val="dk1"/>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(0.0573, 0.122)</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solidFill>
                            <a:srgbClr val="0000FF"/>
                          </a:solidFill>
                        </a:rPr>
                        <a:t>(0.1002, 0.1604)</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(-0.0406, 0.0487)</a:t>
                      </a:r>
                      <a:endParaRPr/>
                    </a:p>
                  </a:txBody>
                  <a:tcPr marL="91425" marR="91425" marT="91425" marB="91425"/>
                </a:tc>
                <a:extLst>
                  <a:ext uri="{0D108BD9-81ED-4DB2-BD59-A6C34878D82A}">
                    <a16:rowId xmlns:a16="http://schemas.microsoft.com/office/drawing/2014/main" val="10005"/>
                  </a:ext>
                </a:extLst>
              </a:tr>
              <a:tr h="477150">
                <a:tc>
                  <a:txBody>
                    <a:bodyPr/>
                    <a:lstStyle/>
                    <a:p>
                      <a:pPr marL="0" lvl="0" indent="0" algn="l" rtl="0">
                        <a:spcBef>
                          <a:spcPts val="0"/>
                        </a:spcBef>
                        <a:spcAft>
                          <a:spcPts val="0"/>
                        </a:spcAft>
                        <a:buNone/>
                      </a:pPr>
                      <a:r>
                        <a:rPr lang="en" b="1">
                          <a:solidFill>
                            <a:schemeClr val="dk1"/>
                          </a:solidFill>
                        </a:rPr>
                        <a:t>Male vs Female</a:t>
                      </a:r>
                      <a:endParaRPr b="1">
                        <a:solidFill>
                          <a:schemeClr val="dk1"/>
                        </a:solidFill>
                      </a:endParaRPr>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solidFill>
                            <a:srgbClr val="0000FF"/>
                          </a:solidFill>
                        </a:rPr>
                        <a:t>(0.0573, 0.076)</a:t>
                      </a:r>
                      <a:endParaRPr>
                        <a:solidFill>
                          <a:srgbClr val="0000FF"/>
                        </a:solidFill>
                      </a:endParaRPr>
                    </a:p>
                  </a:txBody>
                  <a:tcPr marL="91425" marR="91425" marT="91425" marB="91425"/>
                </a:tc>
                <a:tc>
                  <a:txBody>
                    <a:bodyPr/>
                    <a:lstStyle/>
                    <a:p>
                      <a:pPr marL="0" lvl="0" indent="0" algn="l" rtl="0">
                        <a:spcBef>
                          <a:spcPts val="0"/>
                        </a:spcBef>
                        <a:spcAft>
                          <a:spcPts val="0"/>
                        </a:spcAft>
                        <a:buNone/>
                      </a:pPr>
                      <a:r>
                        <a:rPr lang="en"/>
                        <a:t>(-0.0172, 0.0021)</a:t>
                      </a:r>
                      <a:endParaRPr/>
                    </a:p>
                  </a:txBody>
                  <a:tcPr marL="91425" marR="91425" marT="91425" marB="91425"/>
                </a:tc>
                <a:tc>
                  <a:txBody>
                    <a:bodyPr/>
                    <a:lstStyle/>
                    <a:p>
                      <a:pPr marL="0" lvl="0" indent="0" algn="l" rtl="0">
                        <a:spcBef>
                          <a:spcPts val="0"/>
                        </a:spcBef>
                        <a:spcAft>
                          <a:spcPts val="0"/>
                        </a:spcAft>
                        <a:buNone/>
                      </a:pPr>
                      <a:r>
                        <a:rPr lang="en"/>
                        <a:t>(-0.0066, 0.0114)</a:t>
                      </a:r>
                      <a:endParaRPr/>
                    </a:p>
                  </a:txBody>
                  <a:tcPr marL="91425" marR="91425" marT="91425" marB="91425"/>
                </a:tc>
                <a:tc>
                  <a:txBody>
                    <a:bodyPr/>
                    <a:lstStyle/>
                    <a:p>
                      <a:pPr marL="0" lvl="0" indent="0" algn="l" rtl="0">
                        <a:spcBef>
                          <a:spcPts val="0"/>
                        </a:spcBef>
                        <a:spcAft>
                          <a:spcPts val="0"/>
                        </a:spcAft>
                        <a:buNone/>
                      </a:pPr>
                      <a:r>
                        <a:rPr lang="en"/>
                        <a:t>(-0.0185, 0.0081)</a:t>
                      </a:r>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MANCOVA</a:t>
            </a:r>
            <a:endParaRPr/>
          </a:p>
        </p:txBody>
      </p:sp>
      <p:sp>
        <p:nvSpPr>
          <p:cNvPr id="169" name="Google Shape;169;p3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Tested for </a:t>
            </a:r>
            <a:endParaRPr/>
          </a:p>
          <a:p>
            <a:pPr marL="914400" lvl="1" indent="-317500" algn="l" rtl="0">
              <a:spcBef>
                <a:spcPts val="0"/>
              </a:spcBef>
              <a:spcAft>
                <a:spcPts val="0"/>
              </a:spcAft>
              <a:buSzPts val="1400"/>
              <a:buChar char="○"/>
            </a:pPr>
            <a:r>
              <a:rPr lang="en"/>
              <a:t>Age + BMI Categories</a:t>
            </a:r>
            <a:endParaRPr/>
          </a:p>
          <a:p>
            <a:pPr marL="1371600" lvl="2" indent="-317500" algn="l" rtl="0">
              <a:spcBef>
                <a:spcPts val="0"/>
              </a:spcBef>
              <a:spcAft>
                <a:spcPts val="0"/>
              </a:spcAft>
              <a:buSzPts val="1400"/>
              <a:buChar char="■"/>
            </a:pPr>
            <a:r>
              <a:rPr lang="en"/>
              <a:t>Age does indeed affect the BMI categorical level confidence intervals</a:t>
            </a:r>
            <a:endParaRPr/>
          </a:p>
          <a:p>
            <a:pPr marL="914400" lvl="1" indent="-317500" algn="l" rtl="0">
              <a:spcBef>
                <a:spcPts val="0"/>
              </a:spcBef>
              <a:spcAft>
                <a:spcPts val="0"/>
              </a:spcAft>
              <a:buSzPts val="1400"/>
              <a:buChar char="○"/>
            </a:pPr>
            <a:r>
              <a:rPr lang="en"/>
              <a:t>Age + Gender</a:t>
            </a:r>
            <a:endParaRPr/>
          </a:p>
          <a:p>
            <a:pPr marL="1371600" lvl="2" indent="-317500" algn="l" rtl="0">
              <a:spcBef>
                <a:spcPts val="0"/>
              </a:spcBef>
              <a:spcAft>
                <a:spcPts val="0"/>
              </a:spcAft>
              <a:buSzPts val="1400"/>
              <a:buChar char="■"/>
            </a:pPr>
            <a:r>
              <a:rPr lang="en"/>
              <a:t>Age does indeed affect the Male vs Female confidence intervals</a:t>
            </a:r>
            <a:endParaRPr/>
          </a:p>
          <a:p>
            <a:pPr marL="914400" lvl="1" indent="-317500" algn="l" rtl="0">
              <a:spcBef>
                <a:spcPts val="0"/>
              </a:spcBef>
              <a:spcAft>
                <a:spcPts val="0"/>
              </a:spcAft>
              <a:buSzPts val="1400"/>
              <a:buChar char="○"/>
            </a:pPr>
            <a:r>
              <a:rPr lang="en"/>
              <a:t>Age + Hypertensive</a:t>
            </a:r>
            <a:endParaRPr/>
          </a:p>
          <a:p>
            <a:pPr marL="1371600" lvl="2" indent="-317500" algn="l" rtl="0">
              <a:spcBef>
                <a:spcPts val="0"/>
              </a:spcBef>
              <a:spcAft>
                <a:spcPts val="0"/>
              </a:spcAft>
              <a:buSzPts val="1400"/>
              <a:buChar char="■"/>
            </a:pPr>
            <a:r>
              <a:rPr lang="en"/>
              <a:t>Age does indeed affect the Hypertension vs No Hypertension confidence intervals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2"/>
          <p:cNvSpPr txBox="1">
            <a:spLocks noGrp="1"/>
          </p:cNvSpPr>
          <p:nvPr>
            <p:ph type="title"/>
          </p:nvPr>
        </p:nvSpPr>
        <p:spPr>
          <a:xfrm>
            <a:off x="311700" y="0"/>
            <a:ext cx="8520600" cy="572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 sz="2220"/>
              <a:t>MANCOVA 95% Confidence Intervals</a:t>
            </a:r>
            <a:endParaRPr sz="2220"/>
          </a:p>
        </p:txBody>
      </p:sp>
      <p:graphicFrame>
        <p:nvGraphicFramePr>
          <p:cNvPr id="175" name="Google Shape;175;p32"/>
          <p:cNvGraphicFramePr/>
          <p:nvPr/>
        </p:nvGraphicFramePr>
        <p:xfrm>
          <a:off x="446675" y="484800"/>
          <a:ext cx="8250625" cy="4658810"/>
        </p:xfrm>
        <a:graphic>
          <a:graphicData uri="http://schemas.openxmlformats.org/drawingml/2006/table">
            <a:tbl>
              <a:tblPr>
                <a:noFill/>
                <a:tableStyleId>{ADC5F4CB-E676-488F-BFCB-5E0939934A82}</a:tableStyleId>
              </a:tblPr>
              <a:tblGrid>
                <a:gridCol w="1650125">
                  <a:extLst>
                    <a:ext uri="{9D8B030D-6E8A-4147-A177-3AD203B41FA5}">
                      <a16:colId xmlns:a16="http://schemas.microsoft.com/office/drawing/2014/main" val="20000"/>
                    </a:ext>
                  </a:extLst>
                </a:gridCol>
                <a:gridCol w="1650125">
                  <a:extLst>
                    <a:ext uri="{9D8B030D-6E8A-4147-A177-3AD203B41FA5}">
                      <a16:colId xmlns:a16="http://schemas.microsoft.com/office/drawing/2014/main" val="20001"/>
                    </a:ext>
                  </a:extLst>
                </a:gridCol>
                <a:gridCol w="1650125">
                  <a:extLst>
                    <a:ext uri="{9D8B030D-6E8A-4147-A177-3AD203B41FA5}">
                      <a16:colId xmlns:a16="http://schemas.microsoft.com/office/drawing/2014/main" val="20002"/>
                    </a:ext>
                  </a:extLst>
                </a:gridCol>
                <a:gridCol w="1650125">
                  <a:extLst>
                    <a:ext uri="{9D8B030D-6E8A-4147-A177-3AD203B41FA5}">
                      <a16:colId xmlns:a16="http://schemas.microsoft.com/office/drawing/2014/main" val="20003"/>
                    </a:ext>
                  </a:extLst>
                </a:gridCol>
                <a:gridCol w="1650125">
                  <a:extLst>
                    <a:ext uri="{9D8B030D-6E8A-4147-A177-3AD203B41FA5}">
                      <a16:colId xmlns:a16="http://schemas.microsoft.com/office/drawing/2014/main" val="20004"/>
                    </a:ext>
                  </a:extLst>
                </a:gridCol>
              </a:tblGrid>
              <a:tr h="370550">
                <a:tc>
                  <a:txBody>
                    <a:bodyPr/>
                    <a:lstStyle/>
                    <a:p>
                      <a:pPr marL="0" lvl="0" indent="0" algn="ctr" rtl="0">
                        <a:spcBef>
                          <a:spcPts val="0"/>
                        </a:spcBef>
                        <a:spcAft>
                          <a:spcPts val="0"/>
                        </a:spcAft>
                        <a:buNone/>
                      </a:pPr>
                      <a:endParaRPr sz="1300"/>
                    </a:p>
                  </a:txBody>
                  <a:tcPr marL="91425" marR="91425" marT="91425" marB="91425"/>
                </a:tc>
                <a:tc>
                  <a:txBody>
                    <a:bodyPr/>
                    <a:lstStyle/>
                    <a:p>
                      <a:pPr marL="0" lvl="0" indent="0" algn="ctr" rtl="0">
                        <a:spcBef>
                          <a:spcPts val="0"/>
                        </a:spcBef>
                        <a:spcAft>
                          <a:spcPts val="0"/>
                        </a:spcAft>
                        <a:buNone/>
                      </a:pPr>
                      <a:r>
                        <a:rPr lang="en" sz="1300" b="1"/>
                        <a:t>Pulse Rate</a:t>
                      </a:r>
                      <a:endParaRPr sz="1300" b="1"/>
                    </a:p>
                  </a:txBody>
                  <a:tcPr marL="91425" marR="91425" marT="91425" marB="91425"/>
                </a:tc>
                <a:tc>
                  <a:txBody>
                    <a:bodyPr/>
                    <a:lstStyle/>
                    <a:p>
                      <a:pPr marL="0" lvl="0" indent="0" algn="ctr" rtl="0">
                        <a:spcBef>
                          <a:spcPts val="0"/>
                        </a:spcBef>
                        <a:spcAft>
                          <a:spcPts val="0"/>
                        </a:spcAft>
                        <a:buNone/>
                      </a:pPr>
                      <a:r>
                        <a:rPr lang="en" sz="1300" b="1"/>
                        <a:t>Systolic BP</a:t>
                      </a:r>
                      <a:endParaRPr sz="1300" b="1"/>
                    </a:p>
                  </a:txBody>
                  <a:tcPr marL="91425" marR="91425" marT="91425" marB="91425"/>
                </a:tc>
                <a:tc>
                  <a:txBody>
                    <a:bodyPr/>
                    <a:lstStyle/>
                    <a:p>
                      <a:pPr marL="0" lvl="0" indent="0" algn="ctr" rtl="0">
                        <a:spcBef>
                          <a:spcPts val="0"/>
                        </a:spcBef>
                        <a:spcAft>
                          <a:spcPts val="0"/>
                        </a:spcAft>
                        <a:buNone/>
                      </a:pPr>
                      <a:r>
                        <a:rPr lang="en" sz="1300" b="1"/>
                        <a:t>Diastolic BP</a:t>
                      </a:r>
                      <a:endParaRPr sz="1300" b="1"/>
                    </a:p>
                  </a:txBody>
                  <a:tcPr marL="91425" marR="91425" marT="91425" marB="91425"/>
                </a:tc>
                <a:tc>
                  <a:txBody>
                    <a:bodyPr/>
                    <a:lstStyle/>
                    <a:p>
                      <a:pPr marL="0" lvl="0" indent="0" algn="ctr" rtl="0">
                        <a:spcBef>
                          <a:spcPts val="0"/>
                        </a:spcBef>
                        <a:spcAft>
                          <a:spcPts val="0"/>
                        </a:spcAft>
                        <a:buNone/>
                      </a:pPr>
                      <a:r>
                        <a:rPr lang="en" sz="1300" b="1"/>
                        <a:t>Glucose</a:t>
                      </a:r>
                      <a:endParaRPr sz="1300" b="1"/>
                    </a:p>
                  </a:txBody>
                  <a:tcPr marL="91425" marR="91425" marT="91425" marB="91425"/>
                </a:tc>
                <a:extLst>
                  <a:ext uri="{0D108BD9-81ED-4DB2-BD59-A6C34878D82A}">
                    <a16:rowId xmlns:a16="http://schemas.microsoft.com/office/drawing/2014/main" val="10000"/>
                  </a:ext>
                </a:extLst>
              </a:tr>
              <a:tr h="401650">
                <a:tc>
                  <a:txBody>
                    <a:bodyPr/>
                    <a:lstStyle/>
                    <a:p>
                      <a:pPr marL="0" lvl="0" indent="0" algn="l" rtl="0">
                        <a:spcBef>
                          <a:spcPts val="0"/>
                        </a:spcBef>
                        <a:spcAft>
                          <a:spcPts val="0"/>
                        </a:spcAft>
                        <a:buNone/>
                      </a:pPr>
                      <a:r>
                        <a:rPr lang="en" sz="1300" b="1"/>
                        <a:t>Healthy vs Obese</a:t>
                      </a:r>
                      <a:endParaRPr sz="1300" b="1"/>
                    </a:p>
                  </a:txBody>
                  <a:tcPr marL="91425" marR="91425" marT="91425" marB="91425"/>
                </a:tc>
                <a:tc>
                  <a:txBody>
                    <a:bodyPr/>
                    <a:lstStyle/>
                    <a:p>
                      <a:pPr marL="0" lvl="0" indent="0" algn="l" rtl="0">
                        <a:spcBef>
                          <a:spcPts val="0"/>
                        </a:spcBef>
                        <a:spcAft>
                          <a:spcPts val="0"/>
                        </a:spcAft>
                        <a:buNone/>
                      </a:pPr>
                      <a:r>
                        <a:rPr lang="en" sz="1300"/>
                        <a:t>(-0.0415, 0.0154)</a:t>
                      </a:r>
                      <a:endParaRPr sz="1300"/>
                    </a:p>
                  </a:txBody>
                  <a:tcPr marL="91425" marR="91425" marT="91425" marB="91425"/>
                </a:tc>
                <a:tc>
                  <a:txBody>
                    <a:bodyPr/>
                    <a:lstStyle/>
                    <a:p>
                      <a:pPr marL="0" lvl="0" indent="0" algn="l" rtl="0">
                        <a:spcBef>
                          <a:spcPts val="0"/>
                        </a:spcBef>
                        <a:spcAft>
                          <a:spcPts val="0"/>
                        </a:spcAft>
                        <a:buNone/>
                      </a:pPr>
                      <a:r>
                        <a:rPr lang="en" sz="1300">
                          <a:solidFill>
                            <a:srgbClr val="0000FF"/>
                          </a:solidFill>
                        </a:rPr>
                        <a:t>(-0.1215, -0.0676)</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solidFill>
                            <a:srgbClr val="0000FF"/>
                          </a:solidFill>
                        </a:rPr>
                        <a:t>(-0.1315, -0.0778)</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t>(-0.0511, 0.0285)</a:t>
                      </a:r>
                      <a:endParaRPr sz="1300"/>
                    </a:p>
                  </a:txBody>
                  <a:tcPr marL="91425" marR="91425" marT="91425" marB="91425"/>
                </a:tc>
                <a:extLst>
                  <a:ext uri="{0D108BD9-81ED-4DB2-BD59-A6C34878D82A}">
                    <a16:rowId xmlns:a16="http://schemas.microsoft.com/office/drawing/2014/main" val="10001"/>
                  </a:ext>
                </a:extLst>
              </a:tr>
              <a:tr h="563250">
                <a:tc>
                  <a:txBody>
                    <a:bodyPr/>
                    <a:lstStyle/>
                    <a:p>
                      <a:pPr marL="0" lvl="0" indent="0" algn="l" rtl="0">
                        <a:spcBef>
                          <a:spcPts val="0"/>
                        </a:spcBef>
                        <a:spcAft>
                          <a:spcPts val="0"/>
                        </a:spcAft>
                        <a:buNone/>
                      </a:pPr>
                      <a:r>
                        <a:rPr lang="en" sz="1300" b="1"/>
                        <a:t>Healthy vs Overweight</a:t>
                      </a:r>
                      <a:endParaRPr sz="1300"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t>(-0.0306, 0.0013)</a:t>
                      </a:r>
                      <a:endParaRPr sz="1300"/>
                    </a:p>
                  </a:txBody>
                  <a:tcPr marL="91425" marR="91425" marT="91425" marB="91425"/>
                </a:tc>
                <a:tc>
                  <a:txBody>
                    <a:bodyPr/>
                    <a:lstStyle/>
                    <a:p>
                      <a:pPr marL="0" lvl="0" indent="0" algn="l" rtl="0">
                        <a:spcBef>
                          <a:spcPts val="0"/>
                        </a:spcBef>
                        <a:spcAft>
                          <a:spcPts val="0"/>
                        </a:spcAft>
                        <a:buNone/>
                      </a:pPr>
                      <a:r>
                        <a:rPr lang="en" sz="1300">
                          <a:solidFill>
                            <a:srgbClr val="0000FF"/>
                          </a:solidFill>
                        </a:rPr>
                        <a:t>(-0.0643, -0.0341)</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solidFill>
                            <a:srgbClr val="0000FF"/>
                          </a:solidFill>
                        </a:rPr>
                        <a:t>(-0.078, -0.048)</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solidFill>
                            <a:srgbClr val="FF0000"/>
                          </a:solidFill>
                        </a:rPr>
                        <a:t>(-0.0517, -0.0071)</a:t>
                      </a:r>
                      <a:endParaRPr sz="1300">
                        <a:solidFill>
                          <a:srgbClr val="FF0000"/>
                        </a:solidFill>
                      </a:endParaRPr>
                    </a:p>
                  </a:txBody>
                  <a:tcPr marL="91425" marR="91425" marT="91425" marB="91425"/>
                </a:tc>
                <a:extLst>
                  <a:ext uri="{0D108BD9-81ED-4DB2-BD59-A6C34878D82A}">
                    <a16:rowId xmlns:a16="http://schemas.microsoft.com/office/drawing/2014/main" val="10002"/>
                  </a:ext>
                </a:extLst>
              </a:tr>
              <a:tr h="563250">
                <a:tc>
                  <a:txBody>
                    <a:bodyPr/>
                    <a:lstStyle/>
                    <a:p>
                      <a:pPr marL="0" lvl="0" indent="0" algn="l" rtl="0">
                        <a:spcBef>
                          <a:spcPts val="0"/>
                        </a:spcBef>
                        <a:spcAft>
                          <a:spcPts val="0"/>
                        </a:spcAft>
                        <a:buClr>
                          <a:schemeClr val="dk1"/>
                        </a:buClr>
                        <a:buSzPts val="1100"/>
                        <a:buFont typeface="Arial"/>
                        <a:buNone/>
                      </a:pPr>
                      <a:r>
                        <a:rPr lang="en" sz="1300" b="1">
                          <a:solidFill>
                            <a:schemeClr val="dk1"/>
                          </a:solidFill>
                        </a:rPr>
                        <a:t>Healthy vs Underweight</a:t>
                      </a:r>
                      <a:endParaRPr sz="1300" b="1"/>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t>(-0.0298, 0.0041)</a:t>
                      </a:r>
                      <a:endParaRPr sz="1300"/>
                    </a:p>
                  </a:txBody>
                  <a:tcPr marL="91425" marR="91425" marT="91425" marB="91425"/>
                </a:tc>
                <a:tc>
                  <a:txBody>
                    <a:bodyPr/>
                    <a:lstStyle/>
                    <a:p>
                      <a:pPr marL="0" lvl="0" indent="0" algn="l" rtl="0">
                        <a:spcBef>
                          <a:spcPts val="0"/>
                        </a:spcBef>
                        <a:spcAft>
                          <a:spcPts val="0"/>
                        </a:spcAft>
                        <a:buNone/>
                      </a:pPr>
                      <a:r>
                        <a:rPr lang="en" sz="1300">
                          <a:solidFill>
                            <a:srgbClr val="FF0000"/>
                          </a:solidFill>
                        </a:rPr>
                        <a:t>(0.015, 0.047)</a:t>
                      </a:r>
                      <a:endParaRPr sz="1300">
                        <a:solidFill>
                          <a:srgbClr val="FF0000"/>
                        </a:solidFill>
                      </a:endParaRPr>
                    </a:p>
                  </a:txBody>
                  <a:tcPr marL="91425" marR="91425" marT="91425" marB="91425"/>
                </a:tc>
                <a:tc>
                  <a:txBody>
                    <a:bodyPr/>
                    <a:lstStyle/>
                    <a:p>
                      <a:pPr marL="0" lvl="0" indent="0" algn="l" rtl="0">
                        <a:spcBef>
                          <a:spcPts val="0"/>
                        </a:spcBef>
                        <a:spcAft>
                          <a:spcPts val="0"/>
                        </a:spcAft>
                        <a:buNone/>
                      </a:pPr>
                      <a:r>
                        <a:rPr lang="en" sz="1300">
                          <a:solidFill>
                            <a:srgbClr val="0000FF"/>
                          </a:solidFill>
                        </a:rPr>
                        <a:t>(0.0239, 0.0558)</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t>(-0.0117, 0.0357)</a:t>
                      </a:r>
                      <a:endParaRPr sz="1300"/>
                    </a:p>
                  </a:txBody>
                  <a:tcPr marL="91425" marR="91425" marT="91425" marB="91425"/>
                </a:tc>
                <a:extLst>
                  <a:ext uri="{0D108BD9-81ED-4DB2-BD59-A6C34878D82A}">
                    <a16:rowId xmlns:a16="http://schemas.microsoft.com/office/drawing/2014/main" val="10003"/>
                  </a:ext>
                </a:extLst>
              </a:tr>
              <a:tr h="563250">
                <a:tc>
                  <a:txBody>
                    <a:bodyPr/>
                    <a:lstStyle/>
                    <a:p>
                      <a:pPr marL="0" lvl="0" indent="0" algn="l" rtl="0">
                        <a:spcBef>
                          <a:spcPts val="0"/>
                        </a:spcBef>
                        <a:spcAft>
                          <a:spcPts val="0"/>
                        </a:spcAft>
                        <a:buNone/>
                      </a:pPr>
                      <a:r>
                        <a:rPr lang="en" sz="1300" b="1"/>
                        <a:t>Obese vs Overweight</a:t>
                      </a:r>
                      <a:endParaRPr sz="1300" b="1"/>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t>(-0.0325, 0.0294)</a:t>
                      </a:r>
                      <a:endParaRPr sz="13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rgbClr val="FF0000"/>
                          </a:solidFill>
                        </a:rPr>
                        <a:t>(0.016, 0.0747)</a:t>
                      </a:r>
                      <a:endParaRPr sz="1300">
                        <a:solidFill>
                          <a:srgbClr val="FF0000"/>
                        </a:solidFill>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rgbClr val="FF0000"/>
                          </a:solidFill>
                        </a:rPr>
                        <a:t>(0.0124, 0.0708)</a:t>
                      </a:r>
                      <a:endParaRPr sz="1300">
                        <a:solidFill>
                          <a:srgbClr val="FF0000"/>
                        </a:solidFill>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t>(-0.0614, 0.0252)</a:t>
                      </a:r>
                      <a:endParaRPr sz="13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63250">
                <a:tc>
                  <a:txBody>
                    <a:bodyPr/>
                    <a:lstStyle/>
                    <a:p>
                      <a:pPr marL="0" lvl="0" indent="0" algn="l" rtl="0">
                        <a:spcBef>
                          <a:spcPts val="0"/>
                        </a:spcBef>
                        <a:spcAft>
                          <a:spcPts val="0"/>
                        </a:spcAft>
                        <a:buNone/>
                      </a:pPr>
                      <a:r>
                        <a:rPr lang="en" sz="1300" b="1"/>
                        <a:t>Obese vs Underweight</a:t>
                      </a:r>
                      <a:endParaRPr sz="1300"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t>(-0.0314, 0.0318)</a:t>
                      </a:r>
                      <a:endParaRPr sz="13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300">
                          <a:solidFill>
                            <a:srgbClr val="0000FF"/>
                          </a:solidFill>
                        </a:rPr>
                        <a:t>(0.0956, 0.1555)</a:t>
                      </a:r>
                      <a:endParaRPr sz="1300">
                        <a:solidFill>
                          <a:srgbClr val="0000FF"/>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300">
                          <a:solidFill>
                            <a:srgbClr val="0000FF"/>
                          </a:solidFill>
                        </a:rPr>
                        <a:t>(0.1147, 0.1743)</a:t>
                      </a:r>
                      <a:endParaRPr sz="1300">
                        <a:solidFill>
                          <a:srgbClr val="0000FF"/>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300"/>
                        <a:t>(-0.0209, 0.0676)</a:t>
                      </a:r>
                      <a:endParaRPr sz="13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5"/>
                  </a:ext>
                </a:extLst>
              </a:tr>
              <a:tr h="563250">
                <a:tc>
                  <a:txBody>
                    <a:bodyPr/>
                    <a:lstStyle/>
                    <a:p>
                      <a:pPr marL="0" lvl="0" indent="0" algn="l" rtl="0">
                        <a:spcBef>
                          <a:spcPts val="0"/>
                        </a:spcBef>
                        <a:spcAft>
                          <a:spcPts val="0"/>
                        </a:spcAft>
                        <a:buNone/>
                      </a:pPr>
                      <a:r>
                        <a:rPr lang="en" sz="1300" b="1"/>
                        <a:t>Overweight vs Underweight </a:t>
                      </a:r>
                      <a:endParaRPr sz="1300"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t>(-0.019, 0.0228)</a:t>
                      </a:r>
                      <a:endParaRPr sz="13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1300">
                          <a:solidFill>
                            <a:srgbClr val="0000FF"/>
                          </a:solidFill>
                        </a:rPr>
                        <a:t>(0.0603, 0.1001) </a:t>
                      </a:r>
                      <a:endParaRPr sz="1300">
                        <a:solidFill>
                          <a:srgbClr val="0000FF"/>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Clr>
                          <a:schemeClr val="dk1"/>
                        </a:buClr>
                        <a:buSzPts val="1100"/>
                        <a:buFont typeface="Arial"/>
                        <a:buNone/>
                      </a:pPr>
                      <a:r>
                        <a:rPr lang="en" sz="1300">
                          <a:solidFill>
                            <a:srgbClr val="0000FF"/>
                          </a:solidFill>
                        </a:rPr>
                        <a:t>(0.083, 0.1227)</a:t>
                      </a:r>
                      <a:endParaRPr sz="1300">
                        <a:solidFill>
                          <a:srgbClr val="0000FF"/>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Clr>
                          <a:schemeClr val="dk1"/>
                        </a:buClr>
                        <a:buSzPts val="1100"/>
                        <a:buFont typeface="Arial"/>
                        <a:buNone/>
                      </a:pPr>
                      <a:r>
                        <a:rPr lang="en" sz="1300">
                          <a:solidFill>
                            <a:srgbClr val="0000FF"/>
                          </a:solidFill>
                        </a:rPr>
                        <a:t>(0.012, 0.0708)</a:t>
                      </a:r>
                      <a:endParaRPr sz="1300">
                        <a:solidFill>
                          <a:srgbClr val="0000FF"/>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extLst>
                  <a:ext uri="{0D108BD9-81ED-4DB2-BD59-A6C34878D82A}">
                    <a16:rowId xmlns:a16="http://schemas.microsoft.com/office/drawing/2014/main" val="10006"/>
                  </a:ext>
                </a:extLst>
              </a:tr>
              <a:tr h="401650">
                <a:tc>
                  <a:txBody>
                    <a:bodyPr/>
                    <a:lstStyle/>
                    <a:p>
                      <a:pPr marL="0" lvl="0" indent="0" algn="l" rtl="0">
                        <a:spcBef>
                          <a:spcPts val="0"/>
                        </a:spcBef>
                        <a:spcAft>
                          <a:spcPts val="0"/>
                        </a:spcAft>
                        <a:buNone/>
                      </a:pPr>
                      <a:r>
                        <a:rPr lang="en" sz="1300" b="1"/>
                        <a:t>Male vs Female</a:t>
                      </a:r>
                      <a:endParaRPr sz="1300" b="1"/>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rgbClr val="0000FF"/>
                          </a:solidFill>
                        </a:rPr>
                        <a:t>(0.048, 0.067)</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solidFill>
                            <a:srgbClr val="0000FF"/>
                          </a:solidFill>
                        </a:rPr>
                        <a:t>(0.0182, 0.0367)</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solidFill>
                            <a:srgbClr val="0000FF"/>
                          </a:solidFill>
                        </a:rPr>
                        <a:t>(0.0096, 0.0283)</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t>(-0.0011, 0.0259)</a:t>
                      </a:r>
                      <a:endParaRPr sz="1300"/>
                    </a:p>
                  </a:txBody>
                  <a:tcPr marL="91425" marR="91425" marT="91425" marB="91425"/>
                </a:tc>
                <a:extLst>
                  <a:ext uri="{0D108BD9-81ED-4DB2-BD59-A6C34878D82A}">
                    <a16:rowId xmlns:a16="http://schemas.microsoft.com/office/drawing/2014/main" val="10007"/>
                  </a:ext>
                </a:extLst>
              </a:tr>
              <a:tr h="563250">
                <a:tc>
                  <a:txBody>
                    <a:bodyPr/>
                    <a:lstStyle/>
                    <a:p>
                      <a:pPr marL="0" lvl="0" indent="0" algn="l" rtl="0">
                        <a:spcBef>
                          <a:spcPts val="0"/>
                        </a:spcBef>
                        <a:spcAft>
                          <a:spcPts val="0"/>
                        </a:spcAft>
                        <a:buNone/>
                      </a:pPr>
                      <a:r>
                        <a:rPr lang="en" sz="1300" b="1"/>
                        <a:t>Hypertensive vs Not</a:t>
                      </a:r>
                      <a:endParaRPr sz="1300" b="1"/>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rgbClr val="0000FF"/>
                          </a:solidFill>
                        </a:rPr>
                        <a:t>(0.0125, 0.0415)</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solidFill>
                            <a:srgbClr val="0000FF"/>
                          </a:solidFill>
                        </a:rPr>
                        <a:t>(-0.1582, -0.1314)</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solidFill>
                            <a:srgbClr val="0000FF"/>
                          </a:solidFill>
                        </a:rPr>
                        <a:t>(-0.1427, -0.1155)</a:t>
                      </a:r>
                      <a:endParaRPr sz="1300">
                        <a:solidFill>
                          <a:srgbClr val="0000FF"/>
                        </a:solidFill>
                      </a:endParaRPr>
                    </a:p>
                  </a:txBody>
                  <a:tcPr marL="91425" marR="91425" marT="91425" marB="91425"/>
                </a:tc>
                <a:tc>
                  <a:txBody>
                    <a:bodyPr/>
                    <a:lstStyle/>
                    <a:p>
                      <a:pPr marL="0" lvl="0" indent="0" algn="l" rtl="0">
                        <a:spcBef>
                          <a:spcPts val="0"/>
                        </a:spcBef>
                        <a:spcAft>
                          <a:spcPts val="0"/>
                        </a:spcAft>
                        <a:buNone/>
                      </a:pPr>
                      <a:r>
                        <a:rPr lang="en" sz="1300"/>
                        <a:t>(-0.0317, 0.0089)</a:t>
                      </a:r>
                      <a:endParaRPr sz="1300"/>
                    </a:p>
                  </a:txBody>
                  <a:tcPr marL="91425" marR="91425" marT="91425" marB="91425"/>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Multivariate Linear Regression</a:t>
            </a:r>
            <a:endParaRPr/>
          </a:p>
        </p:txBody>
      </p:sp>
      <p:sp>
        <p:nvSpPr>
          <p:cNvPr id="181" name="Google Shape;181;p3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Main Predictor Model</a:t>
            </a:r>
            <a:endParaRPr/>
          </a:p>
          <a:p>
            <a:pPr marL="914400" lvl="1" indent="-317500" algn="l" rtl="0">
              <a:spcBef>
                <a:spcPts val="0"/>
              </a:spcBef>
              <a:spcAft>
                <a:spcPts val="0"/>
              </a:spcAft>
              <a:buSzPts val="1400"/>
              <a:buChar char="○"/>
            </a:pPr>
            <a:r>
              <a:rPr lang="en"/>
              <a:t>Transformed (Pulse Rate, SBP, DBP, Glucose) ~ Age + Gender </a:t>
            </a:r>
            <a:r>
              <a:rPr lang="en">
                <a:solidFill>
                  <a:schemeClr val="dk1"/>
                </a:solidFill>
              </a:rPr>
              <a:t>+ </a:t>
            </a:r>
            <a:r>
              <a:rPr lang="en"/>
              <a:t>BMI Categories</a:t>
            </a:r>
            <a:endParaRPr/>
          </a:p>
          <a:p>
            <a:pPr marL="914400" lvl="1" indent="-317500" algn="l" rtl="0">
              <a:spcBef>
                <a:spcPts val="0"/>
              </a:spcBef>
              <a:spcAft>
                <a:spcPts val="0"/>
              </a:spcAft>
              <a:buSzPts val="1400"/>
              <a:buChar char="○"/>
            </a:pPr>
            <a:r>
              <a:rPr lang="en"/>
              <a:t>AIC = </a:t>
            </a:r>
            <a:r>
              <a:rPr lang="en">
                <a:solidFill>
                  <a:schemeClr val="dk1"/>
                </a:solidFill>
                <a:highlight>
                  <a:srgbClr val="FFFFFF"/>
                </a:highlight>
              </a:rPr>
              <a:t>-108904.5  df = 6</a:t>
            </a:r>
            <a:endParaRPr/>
          </a:p>
          <a:p>
            <a:pPr marL="457200" lvl="0" indent="-342900" algn="l" rtl="0">
              <a:spcBef>
                <a:spcPts val="0"/>
              </a:spcBef>
              <a:spcAft>
                <a:spcPts val="0"/>
              </a:spcAft>
              <a:buSzPts val="1800"/>
              <a:buChar char="●"/>
            </a:pPr>
            <a:r>
              <a:rPr lang="en"/>
              <a:t>All Predictor Model (Final Chosen Model)</a:t>
            </a:r>
            <a:endParaRPr/>
          </a:p>
          <a:p>
            <a:pPr marL="914400" lvl="1" indent="-317500" algn="l" rtl="0">
              <a:spcBef>
                <a:spcPts val="0"/>
              </a:spcBef>
              <a:spcAft>
                <a:spcPts val="0"/>
              </a:spcAft>
              <a:buSzPts val="1400"/>
              <a:buChar char="○"/>
            </a:pPr>
            <a:r>
              <a:rPr lang="en"/>
              <a:t>Transformed (Pulse Rate, SBP, DBP, Glucose) ~ Age + Gender </a:t>
            </a:r>
            <a:r>
              <a:rPr lang="en">
                <a:solidFill>
                  <a:schemeClr val="dk1"/>
                </a:solidFill>
              </a:rPr>
              <a:t>+ Hypertensive </a:t>
            </a:r>
            <a:r>
              <a:rPr lang="en"/>
              <a:t>+ BMI Categories</a:t>
            </a:r>
            <a:endParaRPr/>
          </a:p>
          <a:p>
            <a:pPr marL="914400" lvl="1" indent="-317500" algn="l" rtl="0">
              <a:spcBef>
                <a:spcPts val="0"/>
              </a:spcBef>
              <a:spcAft>
                <a:spcPts val="0"/>
              </a:spcAft>
              <a:buSzPts val="1400"/>
              <a:buChar char="○"/>
            </a:pPr>
            <a:r>
              <a:rPr lang="en"/>
              <a:t>AIC = </a:t>
            </a:r>
            <a:r>
              <a:rPr lang="en">
                <a:solidFill>
                  <a:schemeClr val="dk1"/>
                </a:solidFill>
                <a:highlight>
                  <a:srgbClr val="FFFFFF"/>
                </a:highlight>
              </a:rPr>
              <a:t>-109271  df = 7</a:t>
            </a:r>
            <a:endParaRPr>
              <a:solidFill>
                <a:schemeClr val="dk1"/>
              </a:solidFill>
              <a:highlight>
                <a:srgbClr val="FFFFFF"/>
              </a:highlight>
            </a:endParaRPr>
          </a:p>
          <a:p>
            <a:pPr marL="0" lvl="0" indent="0" algn="l" rtl="0">
              <a:spcBef>
                <a:spcPts val="1200"/>
              </a:spcBef>
              <a:spcAft>
                <a:spcPts val="0"/>
              </a:spcAft>
              <a:buNone/>
            </a:pPr>
            <a:endParaRPr>
              <a:solidFill>
                <a:schemeClr val="dk1"/>
              </a:solidFill>
              <a:highlight>
                <a:srgbClr val="FFFFFF"/>
              </a:highlight>
            </a:endParaRPr>
          </a:p>
          <a:p>
            <a:pPr marL="457200" lvl="0" indent="-330200" algn="l" rtl="0">
              <a:spcBef>
                <a:spcPts val="1200"/>
              </a:spcBef>
              <a:spcAft>
                <a:spcPts val="0"/>
              </a:spcAft>
              <a:buClr>
                <a:schemeClr val="dk1"/>
              </a:buClr>
              <a:buSzPts val="1600"/>
              <a:buChar char="●"/>
            </a:pPr>
            <a:r>
              <a:rPr lang="en" sz="1600">
                <a:solidFill>
                  <a:schemeClr val="dk1"/>
                </a:solidFill>
                <a:highlight>
                  <a:srgbClr val="FFFFFF"/>
                </a:highlight>
              </a:rPr>
              <a:t>Reduced-Full Model Test: </a:t>
            </a:r>
            <a:r>
              <a:rPr lang="en" sz="1600">
                <a:highlight>
                  <a:srgbClr val="FFFFFF"/>
                </a:highlight>
              </a:rPr>
              <a:t>all predictor model (full) vs. main predictor model (reduced)</a:t>
            </a:r>
            <a:endParaRPr sz="1600">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Wilk’s Lambda: 0.92774, p-value &lt; 0.001</a:t>
            </a:r>
            <a:endParaRPr>
              <a:solidFill>
                <a:schemeClr val="dk1"/>
              </a:solidFill>
              <a:highlight>
                <a:srgbClr val="FFFFFF"/>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graphicFrame>
        <p:nvGraphicFramePr>
          <p:cNvPr id="186" name="Google Shape;186;p34"/>
          <p:cNvGraphicFramePr/>
          <p:nvPr/>
        </p:nvGraphicFramePr>
        <p:xfrm>
          <a:off x="768850" y="1261200"/>
          <a:ext cx="7239000" cy="3290429"/>
        </p:xfrm>
        <a:graphic>
          <a:graphicData uri="http://schemas.openxmlformats.org/drawingml/2006/table">
            <a:tbl>
              <a:tblPr>
                <a:noFill/>
                <a:tableStyleId>{ADC5F4CB-E676-488F-BFCB-5E0939934A82}</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b="1"/>
                        <a:t>Variable</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Test Statistic (Wilk’s Lambda)</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b="1"/>
                        <a:t>P-Value</a:t>
                      </a:r>
                      <a:endParaRPr b="1"/>
                    </a:p>
                  </a:txBody>
                  <a:tcPr marL="91425" marR="91425" marT="91425" marB="91425">
                    <a:lnL w="9525" cap="flat" cmpd="sng">
                      <a:solidFill>
                        <a:srgbClr val="9E9E9E"/>
                      </a:solidFill>
                      <a:prstDash val="solid"/>
                      <a:round/>
                      <a:headEnd type="none" w="sm" len="sm"/>
                      <a:tailEnd type="none" w="sm" len="sm"/>
                    </a:lnL>
                  </a:tcPr>
                </a:tc>
                <a:tc>
                  <a:txBody>
                    <a:bodyPr/>
                    <a:lstStyle/>
                    <a:p>
                      <a:pPr marL="0" lvl="0" indent="0" algn="l" rtl="0">
                        <a:spcBef>
                          <a:spcPts val="0"/>
                        </a:spcBef>
                        <a:spcAft>
                          <a:spcPts val="0"/>
                        </a:spcAft>
                        <a:buNone/>
                      </a:pPr>
                      <a:r>
                        <a:rPr lang="en" b="1"/>
                        <a:t>Significant?</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Age</a:t>
                      </a: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lnSpc>
                          <a:spcPct val="120000"/>
                        </a:lnSpc>
                        <a:spcBef>
                          <a:spcPts val="0"/>
                        </a:spcBef>
                        <a:spcAft>
                          <a:spcPts val="0"/>
                        </a:spcAft>
                        <a:buNone/>
                      </a:pPr>
                      <a:r>
                        <a:rPr lang="en"/>
                        <a:t>0.8375</a:t>
                      </a: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
                        <a:t>&lt; 0.001</a:t>
                      </a:r>
                      <a:endParaRPr/>
                    </a:p>
                  </a:txBody>
                  <a:tcPr marL="91425" marR="91425" marT="91425" marB="91425"/>
                </a:tc>
                <a:tc>
                  <a:txBody>
                    <a:bodyPr/>
                    <a:lstStyle/>
                    <a:p>
                      <a:pPr marL="0" lvl="0" indent="0" algn="ctr" rtl="0">
                        <a:spcBef>
                          <a:spcPts val="0"/>
                        </a:spcBef>
                        <a:spcAft>
                          <a:spcPts val="0"/>
                        </a:spcAft>
                        <a:buNone/>
                      </a:pPr>
                      <a:r>
                        <a:rPr lang="en"/>
                        <a:t>Yes</a:t>
                      </a:r>
                      <a:endParaRPr/>
                    </a:p>
                  </a:txBody>
                  <a:tcPr marL="91425" marR="91425" marT="91425" marB="91425"/>
                </a:tc>
                <a:extLst>
                  <a:ext uri="{0D108BD9-81ED-4DB2-BD59-A6C34878D82A}">
                    <a16:rowId xmlns:a16="http://schemas.microsoft.com/office/drawing/2014/main" val="10001"/>
                  </a:ext>
                </a:extLst>
              </a:tr>
              <a:tr h="619675">
                <a:tc>
                  <a:txBody>
                    <a:bodyPr/>
                    <a:lstStyle/>
                    <a:p>
                      <a:pPr marL="0" lvl="0" indent="0" algn="l" rtl="0">
                        <a:spcBef>
                          <a:spcPts val="0"/>
                        </a:spcBef>
                        <a:spcAft>
                          <a:spcPts val="0"/>
                        </a:spcAft>
                        <a:buNone/>
                      </a:pPr>
                      <a:r>
                        <a:rPr lang="en"/>
                        <a:t>Gender (Male/Female)</a:t>
                      </a:r>
                      <a:endParaRPr/>
                    </a:p>
                  </a:txBody>
                  <a:tcPr marL="91425" marR="91425" marT="91425" marB="91425"/>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0.9627</a:t>
                      </a:r>
                      <a:endParaRPr>
                        <a:solidFill>
                          <a:schemeClr val="dk1"/>
                        </a:solidFill>
                        <a:highlight>
                          <a:srgbClr val="FFFFFF"/>
                        </a:highlight>
                      </a:endParaRPr>
                    </a:p>
                  </a:txBody>
                  <a:tcPr marL="91425" marR="91425" marT="91425" marB="91425"/>
                </a:tc>
                <a:tc>
                  <a:txBody>
                    <a:bodyPr/>
                    <a:lstStyle/>
                    <a:p>
                      <a:pPr marL="0" lvl="0" indent="0" algn="ctr" rtl="0">
                        <a:spcBef>
                          <a:spcPts val="0"/>
                        </a:spcBef>
                        <a:spcAft>
                          <a:spcPts val="0"/>
                        </a:spcAft>
                        <a:buNone/>
                      </a:pPr>
                      <a:r>
                        <a:rPr lang="en">
                          <a:solidFill>
                            <a:schemeClr val="dk1"/>
                          </a:solidFill>
                        </a:rPr>
                        <a:t>&lt; 0.001</a:t>
                      </a:r>
                      <a:endParaRPr/>
                    </a:p>
                  </a:txBody>
                  <a:tcPr marL="91425" marR="91425" marT="91425" marB="91425"/>
                </a:tc>
                <a:tc>
                  <a:txBody>
                    <a:bodyPr/>
                    <a:lstStyle/>
                    <a:p>
                      <a:pPr marL="0" lvl="0" indent="0" algn="ctr" rtl="0">
                        <a:spcBef>
                          <a:spcPts val="0"/>
                        </a:spcBef>
                        <a:spcAft>
                          <a:spcPts val="0"/>
                        </a:spcAft>
                        <a:buNone/>
                      </a:pPr>
                      <a:r>
                        <a:rPr lang="en">
                          <a:solidFill>
                            <a:schemeClr val="dk1"/>
                          </a:solidFill>
                        </a:rPr>
                        <a:t>Yes</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Hypertensive</a:t>
                      </a:r>
                      <a:endParaRPr/>
                    </a:p>
                    <a:p>
                      <a:pPr marL="0" lvl="0" indent="0" algn="l" rtl="0">
                        <a:spcBef>
                          <a:spcPts val="0"/>
                        </a:spcBef>
                        <a:spcAft>
                          <a:spcPts val="0"/>
                        </a:spcAft>
                        <a:buNone/>
                      </a:pPr>
                      <a:r>
                        <a:rPr lang="en"/>
                        <a:t>(Yes/No)</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lnSpc>
                          <a:spcPct val="120000"/>
                        </a:lnSpc>
                        <a:spcBef>
                          <a:spcPts val="0"/>
                        </a:spcBef>
                        <a:spcAft>
                          <a:spcPts val="0"/>
                        </a:spcAft>
                        <a:buNone/>
                      </a:pPr>
                      <a:r>
                        <a:rPr lang="en">
                          <a:solidFill>
                            <a:schemeClr val="dk1"/>
                          </a:solidFill>
                          <a:highlight>
                            <a:srgbClr val="FFFFFF"/>
                          </a:highlight>
                        </a:rPr>
                        <a:t>0.9243</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rPr>
                        <a:t>&lt; 0.001</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rPr>
                        <a:t>Yes</a:t>
                      </a:r>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BMI (Obese/</a:t>
                      </a:r>
                      <a:endParaRPr/>
                    </a:p>
                    <a:p>
                      <a:pPr marL="0" lvl="0" indent="0" algn="l" rtl="0">
                        <a:spcBef>
                          <a:spcPts val="0"/>
                        </a:spcBef>
                        <a:spcAft>
                          <a:spcPts val="0"/>
                        </a:spcAft>
                        <a:buNone/>
                      </a:pPr>
                      <a:r>
                        <a:rPr lang="en"/>
                        <a:t>Healthy/</a:t>
                      </a:r>
                      <a:endParaRPr/>
                    </a:p>
                    <a:p>
                      <a:pPr marL="0" lvl="0" indent="0" algn="l" rtl="0">
                        <a:spcBef>
                          <a:spcPts val="0"/>
                        </a:spcBef>
                        <a:spcAft>
                          <a:spcPts val="0"/>
                        </a:spcAft>
                        <a:buNone/>
                      </a:pPr>
                      <a:r>
                        <a:rPr lang="en"/>
                        <a:t>Overweight/</a:t>
                      </a:r>
                      <a:endParaRPr/>
                    </a:p>
                    <a:p>
                      <a:pPr marL="0" lvl="0" indent="0" algn="l" rtl="0">
                        <a:spcBef>
                          <a:spcPts val="0"/>
                        </a:spcBef>
                        <a:spcAft>
                          <a:spcPts val="0"/>
                        </a:spcAft>
                        <a:buNone/>
                      </a:pPr>
                      <a:r>
                        <a:rPr lang="en"/>
                        <a:t>Underweight)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lnSpc>
                          <a:spcPct val="120000"/>
                        </a:lnSpc>
                        <a:spcBef>
                          <a:spcPts val="0"/>
                        </a:spcBef>
                        <a:spcAft>
                          <a:spcPts val="0"/>
                        </a:spcAft>
                        <a:buNone/>
                      </a:pPr>
                      <a:endParaRPr>
                        <a:solidFill>
                          <a:schemeClr val="dk1"/>
                        </a:solidFill>
                        <a:highlight>
                          <a:srgbClr val="FFFFFF"/>
                        </a:highlight>
                      </a:endParaRPr>
                    </a:p>
                    <a:p>
                      <a:pPr marL="0" lvl="0" indent="0" algn="ctr" rtl="0">
                        <a:lnSpc>
                          <a:spcPct val="120000"/>
                        </a:lnSpc>
                        <a:spcBef>
                          <a:spcPts val="0"/>
                        </a:spcBef>
                        <a:spcAft>
                          <a:spcPts val="0"/>
                        </a:spcAft>
                        <a:buNone/>
                      </a:pPr>
                      <a:r>
                        <a:rPr lang="en">
                          <a:solidFill>
                            <a:schemeClr val="dk1"/>
                          </a:solidFill>
                          <a:highlight>
                            <a:srgbClr val="FFFFFF"/>
                          </a:highlight>
                        </a:rPr>
                        <a:t>0.9509</a:t>
                      </a:r>
                      <a:endParaRPr>
                        <a:solidFill>
                          <a:schemeClr val="dk1"/>
                        </a:solidFill>
                        <a:highlight>
                          <a:srgbClr val="FFFFFF"/>
                        </a:high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p>
                      <a:pPr marL="0" lvl="0" indent="0" algn="ctr" rtl="0">
                        <a:spcBef>
                          <a:spcPts val="0"/>
                        </a:spcBef>
                        <a:spcAft>
                          <a:spcPts val="0"/>
                        </a:spcAft>
                        <a:buNone/>
                      </a:pPr>
                      <a:r>
                        <a:rPr lang="en">
                          <a:solidFill>
                            <a:schemeClr val="dk1"/>
                          </a:solidFill>
                        </a:rPr>
                        <a:t>&lt; 0.001</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p>
                      <a:pPr marL="0" lvl="0" indent="0" algn="ctr" rtl="0">
                        <a:spcBef>
                          <a:spcPts val="0"/>
                        </a:spcBef>
                        <a:spcAft>
                          <a:spcPts val="0"/>
                        </a:spcAft>
                        <a:buNone/>
                      </a:pPr>
                      <a:r>
                        <a:rPr lang="en">
                          <a:solidFill>
                            <a:schemeClr val="dk1"/>
                          </a:solidFill>
                        </a:rPr>
                        <a:t>Yes</a:t>
                      </a:r>
                      <a:endParaRPr>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87" name="Google Shape;187;p3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Final Chosen Model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35"/>
          <p:cNvPicPr preferRelativeResize="0"/>
          <p:nvPr/>
        </p:nvPicPr>
        <p:blipFill>
          <a:blip r:embed="rId3">
            <a:alphaModFix/>
          </a:blip>
          <a:stretch>
            <a:fillRect/>
          </a:stretch>
        </p:blipFill>
        <p:spPr>
          <a:xfrm>
            <a:off x="658088" y="152400"/>
            <a:ext cx="7827835" cy="4838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36"/>
          <p:cNvPicPr preferRelativeResize="0"/>
          <p:nvPr/>
        </p:nvPicPr>
        <p:blipFill>
          <a:blip r:embed="rId3">
            <a:alphaModFix/>
          </a:blip>
          <a:stretch>
            <a:fillRect/>
          </a:stretch>
        </p:blipFill>
        <p:spPr>
          <a:xfrm>
            <a:off x="658088" y="152400"/>
            <a:ext cx="7827835" cy="4838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7"/>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Conclusion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8"/>
          <p:cNvSpPr txBox="1">
            <a:spLocks noGrp="1"/>
          </p:cNvSpPr>
          <p:nvPr>
            <p:ph type="title"/>
          </p:nvPr>
        </p:nvSpPr>
        <p:spPr>
          <a:xfrm>
            <a:off x="311700" y="306025"/>
            <a:ext cx="8520600" cy="5727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a:t>Conclusion</a:t>
            </a:r>
            <a:endParaRPr/>
          </a:p>
        </p:txBody>
      </p:sp>
      <p:sp>
        <p:nvSpPr>
          <p:cNvPr id="208" name="Google Shape;208;p38"/>
          <p:cNvSpPr txBox="1">
            <a:spLocks noGrp="1"/>
          </p:cNvSpPr>
          <p:nvPr>
            <p:ph type="body" idx="1"/>
          </p:nvPr>
        </p:nvSpPr>
        <p:spPr>
          <a:xfrm>
            <a:off x="311700" y="1013475"/>
            <a:ext cx="8520600" cy="37239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Given the constraints of the dataset, such as missing information on how the data was originally collected, we built the most appropriate multivariate linear regression model possible.</a:t>
            </a:r>
            <a:endParaRPr/>
          </a:p>
          <a:p>
            <a:pPr marL="457200" lvl="0" indent="-342900" algn="l" rtl="0">
              <a:spcBef>
                <a:spcPts val="0"/>
              </a:spcBef>
              <a:spcAft>
                <a:spcPts val="0"/>
              </a:spcAft>
              <a:buSzPts val="1800"/>
              <a:buChar char="●"/>
            </a:pPr>
            <a:r>
              <a:rPr lang="en"/>
              <a:t>Data does not follow a multivariate normal distribution, while the data does seem to have homogeneity.</a:t>
            </a:r>
            <a:endParaRPr/>
          </a:p>
          <a:p>
            <a:pPr marL="457200" lvl="0" indent="-342900" algn="l" rtl="0">
              <a:spcBef>
                <a:spcPts val="0"/>
              </a:spcBef>
              <a:spcAft>
                <a:spcPts val="0"/>
              </a:spcAft>
              <a:buSzPts val="1800"/>
              <a:buChar char="●"/>
            </a:pPr>
            <a:r>
              <a:rPr lang="en"/>
              <a:t>This study found that BMI categories, particularly obesity and overweight, were significantly associated with higher systolic and diastolic blood pressure and higher glucose levels. Gender differences were evident in pulse rate, with males showing higher values. Additionally, hypertension status strongly influenced both systolic and diastolic blood pressure.</a:t>
            </a:r>
            <a:endParaRPr/>
          </a:p>
          <a:p>
            <a:pPr marL="457200" lvl="0" indent="-342900" algn="l" rtl="0">
              <a:spcBef>
                <a:spcPts val="0"/>
              </a:spcBef>
              <a:spcAft>
                <a:spcPts val="0"/>
              </a:spcAft>
              <a:buSzPts val="1800"/>
              <a:buChar char="●"/>
            </a:pPr>
            <a:r>
              <a:rPr lang="en"/>
              <a:t>Age was a cofounder for the BMI and blood pressure, also it is a confounder of glucose level and BMI.</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9"/>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Limitations &amp; Future Work</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Limitations</a:t>
            </a:r>
            <a:endParaRPr/>
          </a:p>
        </p:txBody>
      </p:sp>
      <p:sp>
        <p:nvSpPr>
          <p:cNvPr id="219" name="Google Shape;219;p4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Reliability of the dataset is poor. The specific methods employed for data collection—such as whether it was gathered through surveys, medical records, or other means—are not detailed in the dataset description.</a:t>
            </a:r>
            <a:endParaRPr/>
          </a:p>
          <a:p>
            <a:pPr marL="457200" lvl="0" indent="-342900" algn="l" rtl="0">
              <a:spcBef>
                <a:spcPts val="0"/>
              </a:spcBef>
              <a:spcAft>
                <a:spcPts val="0"/>
              </a:spcAft>
              <a:buSzPts val="1800"/>
              <a:buChar char="●"/>
            </a:pPr>
            <a:r>
              <a:rPr lang="en"/>
              <a:t>We can not make causal inference.</a:t>
            </a:r>
            <a:endParaRPr/>
          </a:p>
          <a:p>
            <a:pPr marL="457200" lvl="0" indent="-342900" algn="l" rtl="0">
              <a:spcBef>
                <a:spcPts val="0"/>
              </a:spcBef>
              <a:spcAft>
                <a:spcPts val="0"/>
              </a:spcAft>
              <a:buSzPts val="1800"/>
              <a:buChar char="●"/>
            </a:pPr>
            <a:r>
              <a:rPr lang="en"/>
              <a:t>Not many predictors to work with after using 4 continuous response variables.</a:t>
            </a:r>
            <a:endParaRPr/>
          </a:p>
          <a:p>
            <a:pPr marL="457200" lvl="0" indent="-342900" algn="l" rtl="0">
              <a:spcBef>
                <a:spcPts val="0"/>
              </a:spcBef>
              <a:spcAft>
                <a:spcPts val="0"/>
              </a:spcAft>
              <a:buSzPts val="1800"/>
              <a:buChar char="●"/>
            </a:pPr>
            <a:r>
              <a:rPr lang="en"/>
              <a:t>We did look for outliers using Mahalanobis Distance threshold using an 95th percentile. Identified 303 outliers but we did not remove them since we were unsure how to verify whether they were influential data points.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Future Work</a:t>
            </a:r>
            <a:endParaRPr/>
          </a:p>
        </p:txBody>
      </p:sp>
      <p:sp>
        <p:nvSpPr>
          <p:cNvPr id="225" name="Google Shape;225;p4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Either try to find a more reliable dataset with more variables.</a:t>
            </a:r>
            <a:endParaRPr/>
          </a:p>
          <a:p>
            <a:pPr marL="457200" lvl="0" indent="-342900" algn="l" rtl="0">
              <a:spcBef>
                <a:spcPts val="0"/>
              </a:spcBef>
              <a:spcAft>
                <a:spcPts val="0"/>
              </a:spcAft>
              <a:buSzPts val="1800"/>
              <a:buChar char="●"/>
            </a:pPr>
            <a:r>
              <a:rPr lang="en"/>
              <a:t>We might think about decrease response variables number</a:t>
            </a:r>
            <a:endParaRPr/>
          </a:p>
          <a:p>
            <a:pPr marL="914400" lvl="1" indent="-317500" algn="l" rtl="0">
              <a:spcBef>
                <a:spcPts val="0"/>
              </a:spcBef>
              <a:spcAft>
                <a:spcPts val="0"/>
              </a:spcAft>
              <a:buSzPts val="1400"/>
              <a:buChar char="○"/>
            </a:pPr>
            <a:r>
              <a:rPr lang="en"/>
              <a:t>i.e. Instead of using Systolic Blood Pressure (SBP) and Diastolic Blood Pressure (DBP), we might try using Mean Arterial Pressure (MAP).</a:t>
            </a:r>
            <a:endParaRPr/>
          </a:p>
          <a:p>
            <a:pPr marL="457200" lvl="0" indent="-342900" algn="l" rtl="0">
              <a:spcBef>
                <a:spcPts val="0"/>
              </a:spcBef>
              <a:spcAft>
                <a:spcPts val="0"/>
              </a:spcAft>
              <a:buSzPts val="1800"/>
              <a:buChar char="●"/>
            </a:pPr>
            <a:r>
              <a:rPr lang="en"/>
              <a:t>Try more Post-Hoc analysis to better understand the dataset.</a:t>
            </a:r>
            <a:endParaRPr/>
          </a:p>
          <a:p>
            <a:pPr marL="457200" lvl="0" indent="-342900" algn="l" rtl="0">
              <a:spcBef>
                <a:spcPts val="0"/>
              </a:spcBef>
              <a:spcAft>
                <a:spcPts val="0"/>
              </a:spcAft>
              <a:buSzPts val="1800"/>
              <a:buChar char="●"/>
            </a:pPr>
            <a:r>
              <a:rPr lang="en"/>
              <a:t>Include multiple population / study centers to generalize the findings.</a:t>
            </a:r>
            <a:endParaRPr/>
          </a:p>
          <a:p>
            <a:pPr marL="457200" lvl="0" indent="-342900" algn="l" rtl="0">
              <a:spcBef>
                <a:spcPts val="0"/>
              </a:spcBef>
              <a:spcAft>
                <a:spcPts val="0"/>
              </a:spcAft>
              <a:buSzPts val="1800"/>
              <a:buChar char="●"/>
            </a:pPr>
            <a:r>
              <a:rPr lang="en"/>
              <a:t>Figure out how to identify whether an outlier observation is influential enough to be removed from the analysis.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References</a:t>
            </a:r>
            <a:endParaRPr/>
          </a:p>
        </p:txBody>
      </p:sp>
      <p:sp>
        <p:nvSpPr>
          <p:cNvPr id="231" name="Google Shape;231;p42"/>
          <p:cNvSpPr txBox="1">
            <a:spLocks noGrp="1"/>
          </p:cNvSpPr>
          <p:nvPr>
            <p:ph type="body" idx="1"/>
          </p:nvPr>
        </p:nvSpPr>
        <p:spPr>
          <a:xfrm>
            <a:off x="311700" y="1017725"/>
            <a:ext cx="8520600" cy="3691200"/>
          </a:xfrm>
          <a:prstGeom prst="rect">
            <a:avLst/>
          </a:prstGeom>
        </p:spPr>
        <p:txBody>
          <a:bodyPr spcFirstLastPara="1" wrap="square" lIns="91425" tIns="91425" rIns="91425" bIns="91425" anchor="t" anchorCtr="0">
            <a:noAutofit/>
          </a:bodyPr>
          <a:lstStyle/>
          <a:p>
            <a:pPr marL="457200" lvl="0" indent="-304800" algn="l" rtl="0">
              <a:lnSpc>
                <a:spcPct val="95000"/>
              </a:lnSpc>
              <a:spcBef>
                <a:spcPts val="0"/>
              </a:spcBef>
              <a:spcAft>
                <a:spcPts val="0"/>
              </a:spcAft>
              <a:buClr>
                <a:schemeClr val="dk1"/>
              </a:buClr>
              <a:buSzPts val="1200"/>
              <a:buAutoNum type="arabicPeriod"/>
            </a:pPr>
            <a:r>
              <a:rPr lang="en" sz="1200">
                <a:solidFill>
                  <a:schemeClr val="dk1"/>
                </a:solidFill>
              </a:rPr>
              <a:t>Prama, Tabia Tanzin, et al. </a:t>
            </a:r>
            <a:r>
              <a:rPr lang="en" sz="1200" i="1">
                <a:solidFill>
                  <a:schemeClr val="dk1"/>
                </a:solidFill>
              </a:rPr>
              <a:t>DiaHealth: A Bangladeshi Dataset for Type 2 Diabetes Prediction</a:t>
            </a:r>
            <a:r>
              <a:rPr lang="en" sz="1200">
                <a:solidFill>
                  <a:schemeClr val="dk1"/>
                </a:solidFill>
              </a:rPr>
              <a:t>. Mendeley Data, V1 (2024), https://doi.org/10.17632/7M7555VGRN.1.</a:t>
            </a:r>
            <a:endParaRPr sz="1200">
              <a:solidFill>
                <a:schemeClr val="dk1"/>
              </a:solidFill>
            </a:endParaRPr>
          </a:p>
          <a:p>
            <a:pPr marL="457200" lvl="0" indent="-304800" algn="l" rtl="0">
              <a:lnSpc>
                <a:spcPct val="95000"/>
              </a:lnSpc>
              <a:spcBef>
                <a:spcPts val="0"/>
              </a:spcBef>
              <a:spcAft>
                <a:spcPts val="0"/>
              </a:spcAft>
              <a:buSzPts val="1200"/>
              <a:buAutoNum type="arabicPeriod"/>
            </a:pPr>
            <a:r>
              <a:rPr lang="en" sz="1200">
                <a:solidFill>
                  <a:schemeClr val="dk1"/>
                </a:solidFill>
              </a:rPr>
              <a:t>Ramesh, Gautam et al. </a:t>
            </a:r>
            <a:r>
              <a:rPr lang="en" sz="1200" i="1">
                <a:solidFill>
                  <a:schemeClr val="dk1"/>
                </a:solidFill>
              </a:rPr>
              <a:t>Associations Between Adherence to the Dietary Approaches To Stop Hypertension (Dash) Diet and Six Glucose Homeostasis Traits in the Microbiome and Insulin Longitudinal Evaluation Study (Miles)</a:t>
            </a:r>
            <a:r>
              <a:rPr lang="en" sz="1200">
                <a:solidFill>
                  <a:schemeClr val="dk1"/>
                </a:solidFill>
              </a:rPr>
              <a:t>. DigitalCommons@TMC. Print.</a:t>
            </a:r>
            <a:endParaRPr sz="1200">
              <a:solidFill>
                <a:schemeClr val="dk1"/>
              </a:solidFill>
            </a:endParaRPr>
          </a:p>
          <a:p>
            <a:pPr marL="457200" lvl="0" indent="-304800" algn="l" rtl="0">
              <a:lnSpc>
                <a:spcPct val="95000"/>
              </a:lnSpc>
              <a:spcBef>
                <a:spcPts val="0"/>
              </a:spcBef>
              <a:spcAft>
                <a:spcPts val="0"/>
              </a:spcAft>
              <a:buSzPts val="1200"/>
              <a:buAutoNum type="arabicPeriod"/>
            </a:pPr>
            <a:r>
              <a:rPr lang="en" sz="1200">
                <a:solidFill>
                  <a:schemeClr val="dk1"/>
                </a:solidFill>
              </a:rPr>
              <a:t>Li, Shengxu et al. “BMI and Waist Circumference Are Associated with Impaired Glucose Metabolism and Type 2 Diabetes in Normal Weight Chinese Adults.” </a:t>
            </a:r>
            <a:r>
              <a:rPr lang="en" sz="1200" i="1">
                <a:solidFill>
                  <a:schemeClr val="dk1"/>
                </a:solidFill>
              </a:rPr>
              <a:t>Journal of diabetes and its complications</a:t>
            </a:r>
            <a:r>
              <a:rPr lang="en" sz="1200">
                <a:solidFill>
                  <a:schemeClr val="dk1"/>
                </a:solidFill>
              </a:rPr>
              <a:t> 28.4 (2014): 470–476. Web.</a:t>
            </a:r>
            <a:endParaRPr sz="1200">
              <a:solidFill>
                <a:schemeClr val="dk1"/>
              </a:solidFill>
            </a:endParaRPr>
          </a:p>
          <a:p>
            <a:pPr marL="457200" lvl="0" indent="-304800" algn="l" rtl="0">
              <a:lnSpc>
                <a:spcPct val="95000"/>
              </a:lnSpc>
              <a:spcBef>
                <a:spcPts val="0"/>
              </a:spcBef>
              <a:spcAft>
                <a:spcPts val="0"/>
              </a:spcAft>
              <a:buSzPts val="1200"/>
              <a:buAutoNum type="arabicPeriod"/>
            </a:pPr>
            <a:r>
              <a:rPr lang="en" sz="1200">
                <a:solidFill>
                  <a:schemeClr val="dk1"/>
                </a:solidFill>
              </a:rPr>
              <a:t>Il’yasova, D et al. “Prospective Association between Fasting NEFA and Type 2 Diabetes: Impact of Post-Load Glucose.” </a:t>
            </a:r>
            <a:r>
              <a:rPr lang="en" sz="1200" i="1">
                <a:solidFill>
                  <a:schemeClr val="dk1"/>
                </a:solidFill>
              </a:rPr>
              <a:t>Diabetologia</a:t>
            </a:r>
            <a:r>
              <a:rPr lang="en" sz="1200">
                <a:solidFill>
                  <a:schemeClr val="dk1"/>
                </a:solidFill>
              </a:rPr>
              <a:t> 53.5 (2010): 866–874. Web.</a:t>
            </a:r>
            <a:endParaRPr sz="1200">
              <a:solidFill>
                <a:schemeClr val="dk1"/>
              </a:solidFill>
            </a:endParaRPr>
          </a:p>
          <a:p>
            <a:pPr marL="457200" lvl="0" indent="-304800" algn="l" rtl="0">
              <a:lnSpc>
                <a:spcPct val="95000"/>
              </a:lnSpc>
              <a:spcBef>
                <a:spcPts val="0"/>
              </a:spcBef>
              <a:spcAft>
                <a:spcPts val="0"/>
              </a:spcAft>
              <a:buSzPts val="1200"/>
              <a:buAutoNum type="arabicPeriod"/>
            </a:pPr>
            <a:r>
              <a:rPr lang="en" sz="1200">
                <a:solidFill>
                  <a:schemeClr val="dk1"/>
                </a:solidFill>
              </a:rPr>
              <a:t>Branch, OraLee H et al. “Relationships Between Blood Pressure Reduction, Weight Loss, and Engagement in a Digital App–Based Hypertension Care Program: Observational Study.” </a:t>
            </a:r>
            <a:r>
              <a:rPr lang="en" sz="1200" i="1">
                <a:solidFill>
                  <a:schemeClr val="dk1"/>
                </a:solidFill>
              </a:rPr>
              <a:t>JMIR formative research</a:t>
            </a:r>
            <a:r>
              <a:rPr lang="en" sz="1200">
                <a:solidFill>
                  <a:schemeClr val="dk1"/>
                </a:solidFill>
              </a:rPr>
              <a:t> 6.10 (2022): e38215–e38215. Web.</a:t>
            </a:r>
            <a:endParaRPr sz="1200">
              <a:solidFill>
                <a:schemeClr val="dk1"/>
              </a:solidFill>
            </a:endParaRPr>
          </a:p>
          <a:p>
            <a:pPr marL="457200" lvl="0" indent="-304800" algn="l" rtl="0">
              <a:lnSpc>
                <a:spcPct val="95000"/>
              </a:lnSpc>
              <a:spcBef>
                <a:spcPts val="0"/>
              </a:spcBef>
              <a:spcAft>
                <a:spcPts val="0"/>
              </a:spcAft>
              <a:buSzPts val="1200"/>
              <a:buAutoNum type="arabicPeriod"/>
            </a:pPr>
            <a:r>
              <a:rPr lang="en" sz="1200">
                <a:solidFill>
                  <a:schemeClr val="dk1"/>
                </a:solidFill>
              </a:rPr>
              <a:t>Ma, Jun et al. “Quantifying the Relationships of Blood Pressure with Weight, Height and Body Mass Index in Chinese Children and Adolescents.” </a:t>
            </a:r>
            <a:r>
              <a:rPr lang="en" sz="1200" i="1">
                <a:solidFill>
                  <a:schemeClr val="dk1"/>
                </a:solidFill>
              </a:rPr>
              <a:t>Journal of paediatrics and child health</a:t>
            </a:r>
            <a:r>
              <a:rPr lang="en" sz="1200">
                <a:solidFill>
                  <a:schemeClr val="dk1"/>
                </a:solidFill>
              </a:rPr>
              <a:t> 48.5 (2012): 413–418. Web.</a:t>
            </a:r>
            <a:endParaRPr sz="1200">
              <a:solidFill>
                <a:schemeClr val="dk1"/>
              </a:solidFill>
            </a:endParaRPr>
          </a:p>
          <a:p>
            <a:pPr marL="457200" lvl="0" indent="-304800" algn="l" rtl="0">
              <a:lnSpc>
                <a:spcPct val="95000"/>
              </a:lnSpc>
              <a:spcBef>
                <a:spcPts val="0"/>
              </a:spcBef>
              <a:spcAft>
                <a:spcPts val="0"/>
              </a:spcAft>
              <a:buSzPts val="1200"/>
              <a:buAutoNum type="arabicPeriod"/>
            </a:pPr>
            <a:r>
              <a:rPr lang="en" sz="1200">
                <a:solidFill>
                  <a:schemeClr val="dk1"/>
                </a:solidFill>
              </a:rPr>
              <a:t>DRIVSHOLM, T et al. “Symptoms, Signs and Complications in Newly Diagnosed Type 2 Diabetic Patients, and Their Relationship to Glycaemia, Blood Pressure and Weight.” </a:t>
            </a:r>
            <a:r>
              <a:rPr lang="en" sz="1200" i="1">
                <a:solidFill>
                  <a:schemeClr val="dk1"/>
                </a:solidFill>
              </a:rPr>
              <a:t>Diabetologia</a:t>
            </a:r>
            <a:r>
              <a:rPr lang="en" sz="1200">
                <a:solidFill>
                  <a:schemeClr val="dk1"/>
                </a:solidFill>
              </a:rPr>
              <a:t> 48.2 (2005): 210–214. Web.</a:t>
            </a:r>
            <a:endParaRPr sz="1200">
              <a:solidFill>
                <a:schemeClr val="dk1"/>
              </a:solidFill>
            </a:endParaRPr>
          </a:p>
          <a:p>
            <a:pPr marL="457200" lvl="0" indent="-304800" algn="l" rtl="0">
              <a:lnSpc>
                <a:spcPct val="95000"/>
              </a:lnSpc>
              <a:spcBef>
                <a:spcPts val="0"/>
              </a:spcBef>
              <a:spcAft>
                <a:spcPts val="0"/>
              </a:spcAft>
              <a:buClr>
                <a:schemeClr val="dk1"/>
              </a:buClr>
              <a:buSzPts val="1200"/>
              <a:buAutoNum type="arabicPeriod"/>
            </a:pPr>
            <a:r>
              <a:rPr lang="en" sz="1200">
                <a:solidFill>
                  <a:schemeClr val="dk1"/>
                </a:solidFill>
              </a:rPr>
              <a:t>Kahn, Linda G et al. “Evaluating the Relationship Between Birth Weight for Gestational Age and Adult Blood Pressure Using Participants From a Cohort of Same-Sex Siblings, Discordant on Birth Weight Percentile.” </a:t>
            </a:r>
            <a:r>
              <a:rPr lang="en" sz="1200" i="1">
                <a:solidFill>
                  <a:schemeClr val="dk1"/>
                </a:solidFill>
              </a:rPr>
              <a:t>American journal of epidemiology</a:t>
            </a:r>
            <a:r>
              <a:rPr lang="en" sz="1200">
                <a:solidFill>
                  <a:schemeClr val="dk1"/>
                </a:solidFill>
              </a:rPr>
              <a:t> 186.5 (2017): 550–554. Web.</a:t>
            </a:r>
            <a:endParaRPr sz="1200">
              <a:solidFill>
                <a:schemeClr val="dk1"/>
              </a:solidFill>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2651</Words>
  <Application>Microsoft Macintosh PowerPoint</Application>
  <PresentationFormat>On-screen Show (16:9)</PresentationFormat>
  <Paragraphs>356</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Economica</vt:lpstr>
      <vt:lpstr>Arial</vt:lpstr>
      <vt:lpstr>Open Sans</vt:lpstr>
      <vt:lpstr>Bitter</vt:lpstr>
      <vt:lpstr>Luxe</vt:lpstr>
      <vt:lpstr>Investigating the Association Between Cardiovascular Health Indicators and Individual Characteristics</vt:lpstr>
      <vt:lpstr>Introduction</vt:lpstr>
      <vt:lpstr>Scientific Questions and Motivation</vt:lpstr>
      <vt:lpstr>Description of the Data</vt:lpstr>
      <vt:lpstr>Baseline Characteristics </vt:lpstr>
      <vt:lpstr>PowerPoint Presentation</vt:lpstr>
      <vt:lpstr>Transformation of the data</vt:lpstr>
      <vt:lpstr>Methods</vt:lpstr>
      <vt:lpstr>Statistical Methods used for Analysis</vt:lpstr>
      <vt:lpstr>Statistical Methods used for Analysis</vt:lpstr>
      <vt:lpstr>Statistical Analysis</vt:lpstr>
      <vt:lpstr>Response and Predictors</vt:lpstr>
      <vt:lpstr>One Sample Hotelling T2 Test</vt:lpstr>
      <vt:lpstr>PowerPoint Presentation</vt:lpstr>
      <vt:lpstr>One-Way MANOVA</vt:lpstr>
      <vt:lpstr>One-Way MANOVA CIs for BMI Categories</vt:lpstr>
      <vt:lpstr>Two-Way MANOVA</vt:lpstr>
      <vt:lpstr>Two-Way MANOVA CI for BMI and Gender</vt:lpstr>
      <vt:lpstr>MANCOVA</vt:lpstr>
      <vt:lpstr>MANCOVA 95% Confidence Intervals</vt:lpstr>
      <vt:lpstr>Multivariate Linear Regression</vt:lpstr>
      <vt:lpstr>Final Chosen Model</vt:lpstr>
      <vt:lpstr>PowerPoint Presentation</vt:lpstr>
      <vt:lpstr>PowerPoint Presentation</vt:lpstr>
      <vt:lpstr>Conclusion</vt:lpstr>
      <vt:lpstr>Conclusion</vt:lpstr>
      <vt:lpstr>Limitations &amp; Future Work</vt:lpstr>
      <vt:lpstr>Limitations</vt:lpstr>
      <vt:lpstr>Future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Stephens, Alison</cp:lastModifiedBy>
  <cp:revision>1</cp:revision>
  <dcterms:modified xsi:type="dcterms:W3CDTF">2025-05-02T20:51:35Z</dcterms:modified>
</cp:coreProperties>
</file>